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7" r:id="rId2"/>
    <p:sldId id="276" r:id="rId3"/>
    <p:sldId id="258" r:id="rId4"/>
    <p:sldId id="261" r:id="rId5"/>
    <p:sldId id="260" r:id="rId6"/>
    <p:sldId id="259" r:id="rId7"/>
    <p:sldId id="262" r:id="rId8"/>
    <p:sldId id="263" r:id="rId9"/>
    <p:sldId id="266" r:id="rId10"/>
    <p:sldId id="267" r:id="rId11"/>
    <p:sldId id="268" r:id="rId12"/>
    <p:sldId id="269" r:id="rId13"/>
    <p:sldId id="271" r:id="rId14"/>
    <p:sldId id="272" r:id="rId15"/>
    <p:sldId id="273" r:id="rId16"/>
    <p:sldId id="274" r:id="rId17"/>
    <p:sldId id="275" r:id="rId18"/>
    <p:sldId id="264" r:id="rId19"/>
    <p:sldId id="26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varScale="1">
        <p:scale>
          <a:sx n="81" d="100"/>
          <a:sy n="81" d="100"/>
        </p:scale>
        <p:origin x="114" y="6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CFD575-157A-41E6-9D75-7310B9B21CA2}" type="datetimeFigureOut">
              <a:rPr lang="es-PE" smtClean="0"/>
              <a:t>20/08/2025</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547A9C-9817-4426-BD63-5CD29B2379A4}" type="slidenum">
              <a:rPr lang="es-PE" smtClean="0"/>
              <a:t>‹Nº›</a:t>
            </a:fld>
            <a:endParaRPr lang="es-PE"/>
          </a:p>
        </p:txBody>
      </p:sp>
    </p:spTree>
    <p:extLst>
      <p:ext uri="{BB962C8B-B14F-4D97-AF65-F5344CB8AC3E}">
        <p14:creationId xmlns:p14="http://schemas.microsoft.com/office/powerpoint/2010/main" val="3168323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dirty="0"/>
          </a:p>
        </p:txBody>
      </p:sp>
      <p:sp>
        <p:nvSpPr>
          <p:cNvPr id="4" name="Marcador de número de diapositiva 3"/>
          <p:cNvSpPr>
            <a:spLocks noGrp="1"/>
          </p:cNvSpPr>
          <p:nvPr>
            <p:ph type="sldNum" sz="quarter" idx="5"/>
          </p:nvPr>
        </p:nvSpPr>
        <p:spPr/>
        <p:txBody>
          <a:bodyPr/>
          <a:lstStyle/>
          <a:p>
            <a:fld id="{8F547A9C-9817-4426-BD63-5CD29B2379A4}" type="slidenum">
              <a:rPr lang="es-PE" smtClean="0"/>
              <a:t>18</a:t>
            </a:fld>
            <a:endParaRPr lang="es-PE"/>
          </a:p>
        </p:txBody>
      </p:sp>
    </p:spTree>
    <p:extLst>
      <p:ext uri="{BB962C8B-B14F-4D97-AF65-F5344CB8AC3E}">
        <p14:creationId xmlns:p14="http://schemas.microsoft.com/office/powerpoint/2010/main" val="350045541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a:xfrm>
            <a:off x="7983232" y="5037663"/>
            <a:ext cx="897467" cy="279400"/>
          </a:xfrm>
        </p:spPr>
        <p:txBody>
          <a:bodyPr/>
          <a:lstStyle/>
          <a:p>
            <a:fld id="{193A4EF1-311E-4B8E-987F-E5E4DBC981B3}" type="datetimeFigureOut">
              <a:rPr lang="es-PE" smtClean="0"/>
              <a:t>20/08/2025</a:t>
            </a:fld>
            <a:endParaRPr lang="es-PE"/>
          </a:p>
        </p:txBody>
      </p:sp>
      <p:sp>
        <p:nvSpPr>
          <p:cNvPr id="5" name="Footer Placeholder 4"/>
          <p:cNvSpPr>
            <a:spLocks noGrp="1"/>
          </p:cNvSpPr>
          <p:nvPr>
            <p:ph type="ftr" sz="quarter" idx="11"/>
          </p:nvPr>
        </p:nvSpPr>
        <p:spPr>
          <a:xfrm>
            <a:off x="2692397" y="5037663"/>
            <a:ext cx="5214635" cy="279400"/>
          </a:xfrm>
        </p:spPr>
        <p:txBody>
          <a:bodyPr/>
          <a:lstStyle/>
          <a:p>
            <a:endParaRPr lang="es-PE"/>
          </a:p>
        </p:txBody>
      </p:sp>
      <p:sp>
        <p:nvSpPr>
          <p:cNvPr id="6" name="Slide Number Placeholder 5"/>
          <p:cNvSpPr>
            <a:spLocks noGrp="1"/>
          </p:cNvSpPr>
          <p:nvPr>
            <p:ph type="sldNum" sz="quarter" idx="12"/>
          </p:nvPr>
        </p:nvSpPr>
        <p:spPr>
          <a:xfrm>
            <a:off x="8956900" y="5037663"/>
            <a:ext cx="551167" cy="279400"/>
          </a:xfrm>
        </p:spPr>
        <p:txBody>
          <a:bodyPr/>
          <a:lstStyle/>
          <a:p>
            <a:fld id="{F12599BB-18CC-4C51-BBAC-1E979A709806}" type="slidenum">
              <a:rPr lang="es-PE" smtClean="0"/>
              <a:t>‹Nº›</a:t>
            </a:fld>
            <a:endParaRPr lang="es-PE"/>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180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93A4EF1-311E-4B8E-987F-E5E4DBC981B3}" type="datetimeFigureOut">
              <a:rPr lang="es-PE" smtClean="0"/>
              <a:t>20/08/2025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F12599BB-18CC-4C51-BBAC-1E979A709806}" type="slidenum">
              <a:rPr lang="es-PE" smtClean="0"/>
              <a:t>‹Nº›</a:t>
            </a:fld>
            <a:endParaRPr lang="es-PE"/>
          </a:p>
        </p:txBody>
      </p:sp>
    </p:spTree>
    <p:extLst>
      <p:ext uri="{BB962C8B-B14F-4D97-AF65-F5344CB8AC3E}">
        <p14:creationId xmlns:p14="http://schemas.microsoft.com/office/powerpoint/2010/main" val="39574090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93A4EF1-311E-4B8E-987F-E5E4DBC981B3}" type="datetimeFigureOut">
              <a:rPr lang="es-PE" smtClean="0"/>
              <a:t>20/08/2025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F12599BB-18CC-4C51-BBAC-1E979A709806}" type="slidenum">
              <a:rPr lang="es-PE" smtClean="0"/>
              <a:t>‹Nº›</a:t>
            </a:fld>
            <a:endParaRPr lang="es-PE"/>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69657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193A4EF1-311E-4B8E-987F-E5E4DBC981B3}" type="datetimeFigureOut">
              <a:rPr lang="es-PE" smtClean="0"/>
              <a:t>20/08/2025</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F12599BB-18CC-4C51-BBAC-1E979A709806}" type="slidenum">
              <a:rPr lang="es-PE" smtClean="0"/>
              <a:t>‹Nº›</a:t>
            </a:fld>
            <a:endParaRPr lang="es-PE"/>
          </a:p>
        </p:txBody>
      </p:sp>
    </p:spTree>
    <p:extLst>
      <p:ext uri="{BB962C8B-B14F-4D97-AF65-F5344CB8AC3E}">
        <p14:creationId xmlns:p14="http://schemas.microsoft.com/office/powerpoint/2010/main" val="1864794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193A4EF1-311E-4B8E-987F-E5E4DBC981B3}" type="datetimeFigureOut">
              <a:rPr lang="es-PE" smtClean="0"/>
              <a:t>20/08/2025</a:t>
            </a:fld>
            <a:endParaRPr lang="es-PE"/>
          </a:p>
        </p:txBody>
      </p:sp>
      <p:sp>
        <p:nvSpPr>
          <p:cNvPr id="8" name="Footer Placeholder 7"/>
          <p:cNvSpPr>
            <a:spLocks noGrp="1"/>
          </p:cNvSpPr>
          <p:nvPr>
            <p:ph type="ftr" sz="quarter" idx="11"/>
          </p:nvPr>
        </p:nvSpPr>
        <p:spPr/>
        <p:txBody>
          <a:bodyPr/>
          <a:lstStyle/>
          <a:p>
            <a:endParaRPr lang="es-PE"/>
          </a:p>
        </p:txBody>
      </p:sp>
      <p:sp>
        <p:nvSpPr>
          <p:cNvPr id="9" name="Slide Number Placeholder 8"/>
          <p:cNvSpPr>
            <a:spLocks noGrp="1"/>
          </p:cNvSpPr>
          <p:nvPr>
            <p:ph type="sldNum" sz="quarter" idx="12"/>
          </p:nvPr>
        </p:nvSpPr>
        <p:spPr/>
        <p:txBody>
          <a:bodyPr/>
          <a:lstStyle/>
          <a:p>
            <a:fld id="{F12599BB-18CC-4C51-BBAC-1E979A709806}" type="slidenum">
              <a:rPr lang="es-PE" smtClean="0"/>
              <a:t>‹Nº›</a:t>
            </a:fld>
            <a:endParaRPr lang="es-PE"/>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021218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93A4EF1-311E-4B8E-987F-E5E4DBC981B3}" type="datetimeFigureOut">
              <a:rPr lang="es-PE" smtClean="0"/>
              <a:t>20/08/2025</a:t>
            </a:fld>
            <a:endParaRPr lang="es-PE"/>
          </a:p>
        </p:txBody>
      </p:sp>
      <p:sp>
        <p:nvSpPr>
          <p:cNvPr id="4" name="Footer Placeholder 3"/>
          <p:cNvSpPr>
            <a:spLocks noGrp="1"/>
          </p:cNvSpPr>
          <p:nvPr>
            <p:ph type="ftr" sz="quarter" idx="11"/>
          </p:nvPr>
        </p:nvSpPr>
        <p:spPr/>
        <p:txBody>
          <a:bodyPr/>
          <a:lstStyle/>
          <a:p>
            <a:endParaRPr lang="es-PE"/>
          </a:p>
        </p:txBody>
      </p:sp>
      <p:sp>
        <p:nvSpPr>
          <p:cNvPr id="5" name="Slide Number Placeholder 4"/>
          <p:cNvSpPr>
            <a:spLocks noGrp="1"/>
          </p:cNvSpPr>
          <p:nvPr>
            <p:ph type="sldNum" sz="quarter" idx="12"/>
          </p:nvPr>
        </p:nvSpPr>
        <p:spPr/>
        <p:txBody>
          <a:bodyPr/>
          <a:lstStyle/>
          <a:p>
            <a:fld id="{F12599BB-18CC-4C51-BBAC-1E979A709806}" type="slidenum">
              <a:rPr lang="es-PE" smtClean="0"/>
              <a:t>‹Nº›</a:t>
            </a:fld>
            <a:endParaRPr lang="es-PE"/>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40479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3A4EF1-311E-4B8E-987F-E5E4DBC981B3}" type="datetimeFigureOut">
              <a:rPr lang="es-PE" smtClean="0"/>
              <a:t>20/08/2025</a:t>
            </a:fld>
            <a:endParaRPr lang="es-PE"/>
          </a:p>
        </p:txBody>
      </p:sp>
      <p:sp>
        <p:nvSpPr>
          <p:cNvPr id="3" name="Footer Placeholder 2"/>
          <p:cNvSpPr>
            <a:spLocks noGrp="1"/>
          </p:cNvSpPr>
          <p:nvPr>
            <p:ph type="ftr" sz="quarter" idx="11"/>
          </p:nvPr>
        </p:nvSpPr>
        <p:spPr/>
        <p:txBody>
          <a:bodyPr/>
          <a:lstStyle/>
          <a:p>
            <a:endParaRPr lang="es-PE"/>
          </a:p>
        </p:txBody>
      </p:sp>
      <p:sp>
        <p:nvSpPr>
          <p:cNvPr id="4" name="Slide Number Placeholder 3"/>
          <p:cNvSpPr>
            <a:spLocks noGrp="1"/>
          </p:cNvSpPr>
          <p:nvPr>
            <p:ph type="sldNum" sz="quarter" idx="12"/>
          </p:nvPr>
        </p:nvSpPr>
        <p:spPr/>
        <p:txBody>
          <a:bodyPr/>
          <a:lstStyle/>
          <a:p>
            <a:fld id="{F12599BB-18CC-4C51-BBAC-1E979A709806}" type="slidenum">
              <a:rPr lang="es-PE" smtClean="0"/>
              <a:t>‹Nº›</a:t>
            </a:fld>
            <a:endParaRPr lang="es-PE"/>
          </a:p>
        </p:txBody>
      </p:sp>
    </p:spTree>
    <p:extLst>
      <p:ext uri="{BB962C8B-B14F-4D97-AF65-F5344CB8AC3E}">
        <p14:creationId xmlns:p14="http://schemas.microsoft.com/office/powerpoint/2010/main" val="2929007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93A4EF1-311E-4B8E-987F-E5E4DBC981B3}" type="datetimeFigureOut">
              <a:rPr lang="es-PE" smtClean="0"/>
              <a:t>20/08/2025</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F12599BB-18CC-4C51-BBAC-1E979A709806}" type="slidenum">
              <a:rPr lang="es-PE" smtClean="0"/>
              <a:t>‹Nº›</a:t>
            </a:fld>
            <a:endParaRPr lang="es-PE"/>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8620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s-ES"/>
              <a:t>Haga clic para modificar el estilo de título del patrón</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93A4EF1-311E-4B8E-987F-E5E4DBC981B3}" type="datetimeFigureOut">
              <a:rPr lang="es-PE" smtClean="0"/>
              <a:t>20/08/2025</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F12599BB-18CC-4C51-BBAC-1E979A709806}" type="slidenum">
              <a:rPr lang="es-PE" smtClean="0"/>
              <a:t>‹Nº›</a:t>
            </a:fld>
            <a:endParaRPr lang="es-PE"/>
          </a:p>
        </p:txBody>
      </p:sp>
    </p:spTree>
    <p:extLst>
      <p:ext uri="{BB962C8B-B14F-4D97-AF65-F5344CB8AC3E}">
        <p14:creationId xmlns:p14="http://schemas.microsoft.com/office/powerpoint/2010/main" val="2260324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193A4EF1-311E-4B8E-987F-E5E4DBC981B3}" type="datetimeFigureOut">
              <a:rPr lang="es-PE" smtClean="0"/>
              <a:t>20/08/2025</a:t>
            </a:fld>
            <a:endParaRPr lang="es-PE"/>
          </a:p>
        </p:txBody>
      </p:sp>
      <p:sp>
        <p:nvSpPr>
          <p:cNvPr id="6" name="Footer Placeholder 5"/>
          <p:cNvSpPr>
            <a:spLocks noGrp="1"/>
          </p:cNvSpPr>
          <p:nvPr>
            <p:ph type="ftr" sz="quarter" idx="11"/>
          </p:nvPr>
        </p:nvSpPr>
        <p:spPr/>
        <p:txBody>
          <a:bodyPr/>
          <a:lstStyle/>
          <a:p>
            <a:endParaRPr lang="es-PE"/>
          </a:p>
        </p:txBody>
      </p:sp>
      <p:sp>
        <p:nvSpPr>
          <p:cNvPr id="7" name="Slide Number Placeholder 6"/>
          <p:cNvSpPr>
            <a:spLocks noGrp="1"/>
          </p:cNvSpPr>
          <p:nvPr>
            <p:ph type="sldNum" sz="quarter" idx="12"/>
          </p:nvPr>
        </p:nvSpPr>
        <p:spPr/>
        <p:txBody>
          <a:bodyPr/>
          <a:lstStyle/>
          <a:p>
            <a:fld id="{F12599BB-18CC-4C51-BBAC-1E979A709806}" type="slidenum">
              <a:rPr lang="es-PE" smtClean="0"/>
              <a:t>‹Nº›</a:t>
            </a:fld>
            <a:endParaRPr lang="es-PE"/>
          </a:p>
        </p:txBody>
      </p:sp>
    </p:spTree>
    <p:extLst>
      <p:ext uri="{BB962C8B-B14F-4D97-AF65-F5344CB8AC3E}">
        <p14:creationId xmlns:p14="http://schemas.microsoft.com/office/powerpoint/2010/main" val="3099530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93A4EF1-311E-4B8E-987F-E5E4DBC981B3}" type="datetimeFigureOut">
              <a:rPr lang="es-PE" smtClean="0"/>
              <a:t>20/08/2025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F12599BB-18CC-4C51-BBAC-1E979A709806}" type="slidenum">
              <a:rPr lang="es-PE" smtClean="0"/>
              <a:t>‹Nº›</a:t>
            </a:fld>
            <a:endParaRPr lang="es-PE"/>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68304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93A4EF1-311E-4B8E-987F-E5E4DBC981B3}" type="datetimeFigureOut">
              <a:rPr lang="es-PE" smtClean="0"/>
              <a:t>20/08/2025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F12599BB-18CC-4C51-BBAC-1E979A709806}" type="slidenum">
              <a:rPr lang="es-PE" smtClean="0"/>
              <a:t>‹Nº›</a:t>
            </a:fld>
            <a:endParaRPr lang="es-PE"/>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28162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93A4EF1-311E-4B8E-987F-E5E4DBC981B3}" type="datetimeFigureOut">
              <a:rPr lang="es-PE" smtClean="0"/>
              <a:t>20/08/2025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F12599BB-18CC-4C51-BBAC-1E979A709806}" type="slidenum">
              <a:rPr lang="es-PE" smtClean="0"/>
              <a:t>‹Nº›</a:t>
            </a:fld>
            <a:endParaRPr lang="es-PE"/>
          </a:p>
        </p:txBody>
      </p:sp>
    </p:spTree>
    <p:extLst>
      <p:ext uri="{BB962C8B-B14F-4D97-AF65-F5344CB8AC3E}">
        <p14:creationId xmlns:p14="http://schemas.microsoft.com/office/powerpoint/2010/main" val="4238102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s-ES"/>
              <a:t>Haga clic para modificar el estilo de título del patrón</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93A4EF1-311E-4B8E-987F-E5E4DBC981B3}" type="datetimeFigureOut">
              <a:rPr lang="es-PE" smtClean="0"/>
              <a:t>20/08/2025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F12599BB-18CC-4C51-BBAC-1E979A709806}" type="slidenum">
              <a:rPr lang="es-PE" smtClean="0"/>
              <a:t>‹Nº›</a:t>
            </a:fld>
            <a:endParaRPr lang="es-PE"/>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435739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193A4EF1-311E-4B8E-987F-E5E4DBC981B3}" type="datetimeFigureOut">
              <a:rPr lang="es-PE" smtClean="0"/>
              <a:t>20/08/2025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F12599BB-18CC-4C51-BBAC-1E979A709806}" type="slidenum">
              <a:rPr lang="es-PE" smtClean="0"/>
              <a:t>‹Nº›</a:t>
            </a:fld>
            <a:endParaRPr lang="es-PE"/>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344455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93A4EF1-311E-4B8E-987F-E5E4DBC981B3}" type="datetimeFigureOut">
              <a:rPr lang="es-PE" smtClean="0"/>
              <a:t>20/08/2025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F12599BB-18CC-4C51-BBAC-1E979A709806}" type="slidenum">
              <a:rPr lang="es-PE" smtClean="0"/>
              <a:t>‹Nº›</a:t>
            </a:fld>
            <a:endParaRPr lang="es-PE"/>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24778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93A4EF1-311E-4B8E-987F-E5E4DBC981B3}" type="datetimeFigureOut">
              <a:rPr lang="es-PE" smtClean="0"/>
              <a:t>20/08/2025</a:t>
            </a:fld>
            <a:endParaRPr lang="es-PE"/>
          </a:p>
        </p:txBody>
      </p:sp>
      <p:sp>
        <p:nvSpPr>
          <p:cNvPr id="5" name="Footer Placeholder 4"/>
          <p:cNvSpPr>
            <a:spLocks noGrp="1"/>
          </p:cNvSpPr>
          <p:nvPr>
            <p:ph type="ftr" sz="quarter" idx="11"/>
          </p:nvPr>
        </p:nvSpPr>
        <p:spPr/>
        <p:txBody>
          <a:bodyPr/>
          <a:lstStyle/>
          <a:p>
            <a:endParaRPr lang="es-PE"/>
          </a:p>
        </p:txBody>
      </p:sp>
      <p:sp>
        <p:nvSpPr>
          <p:cNvPr id="6" name="Slide Number Placeholder 5"/>
          <p:cNvSpPr>
            <a:spLocks noGrp="1"/>
          </p:cNvSpPr>
          <p:nvPr>
            <p:ph type="sldNum" sz="quarter" idx="12"/>
          </p:nvPr>
        </p:nvSpPr>
        <p:spPr/>
        <p:txBody>
          <a:bodyPr/>
          <a:lstStyle/>
          <a:p>
            <a:fld id="{F12599BB-18CC-4C51-BBAC-1E979A709806}" type="slidenum">
              <a:rPr lang="es-PE" smtClean="0"/>
              <a:t>‹Nº›</a:t>
            </a:fld>
            <a:endParaRPr lang="es-PE"/>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4645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93A4EF1-311E-4B8E-987F-E5E4DBC981B3}" type="datetimeFigureOut">
              <a:rPr lang="es-PE" smtClean="0"/>
              <a:t>20/08/2025</a:t>
            </a:fld>
            <a:endParaRPr lang="es-PE"/>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s-PE"/>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12599BB-18CC-4C51-BBAC-1E979A709806}" type="slidenum">
              <a:rPr lang="es-PE" smtClean="0"/>
              <a:t>‹Nº›</a:t>
            </a:fld>
            <a:endParaRPr lang="es-PE"/>
          </a:p>
        </p:txBody>
      </p:sp>
    </p:spTree>
    <p:extLst>
      <p:ext uri="{BB962C8B-B14F-4D97-AF65-F5344CB8AC3E}">
        <p14:creationId xmlns:p14="http://schemas.microsoft.com/office/powerpoint/2010/main" val="34354817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1.png">
            <a:extLst>
              <a:ext uri="{FF2B5EF4-FFF2-40B4-BE49-F238E27FC236}">
                <a16:creationId xmlns:a16="http://schemas.microsoft.com/office/drawing/2014/main" id="{72B569BE-70FF-454F-4280-B22E0BF7308E}"/>
              </a:ext>
            </a:extLst>
          </p:cNvPr>
          <p:cNvPicPr/>
          <p:nvPr/>
        </p:nvPicPr>
        <p:blipFill>
          <a:blip r:embed="rId2"/>
          <a:srcRect/>
          <a:stretch>
            <a:fillRect/>
          </a:stretch>
        </p:blipFill>
        <p:spPr>
          <a:xfrm>
            <a:off x="671203" y="689512"/>
            <a:ext cx="2260023" cy="498020"/>
          </a:xfrm>
          <a:prstGeom prst="rect">
            <a:avLst/>
          </a:prstGeom>
          <a:ln/>
        </p:spPr>
      </p:pic>
      <p:sp>
        <p:nvSpPr>
          <p:cNvPr id="6" name="CuadroTexto 5">
            <a:extLst>
              <a:ext uri="{FF2B5EF4-FFF2-40B4-BE49-F238E27FC236}">
                <a16:creationId xmlns:a16="http://schemas.microsoft.com/office/drawing/2014/main" id="{0BC0DEC7-F380-0113-0C2E-0F13BFFEECF4}"/>
              </a:ext>
            </a:extLst>
          </p:cNvPr>
          <p:cNvSpPr txBox="1"/>
          <p:nvPr/>
        </p:nvSpPr>
        <p:spPr>
          <a:xfrm>
            <a:off x="3144982" y="627013"/>
            <a:ext cx="6115792" cy="743793"/>
          </a:xfrm>
          <a:prstGeom prst="rect">
            <a:avLst/>
          </a:prstGeom>
          <a:noFill/>
        </p:spPr>
        <p:txBody>
          <a:bodyPr wrap="square">
            <a:spAutoFit/>
          </a:bodyPr>
          <a:lstStyle/>
          <a:p>
            <a:pPr marL="304800" marR="127000" algn="ctr">
              <a:spcBef>
                <a:spcPts val="400"/>
              </a:spcBef>
              <a:spcAft>
                <a:spcPts val="0"/>
              </a:spcAft>
            </a:pPr>
            <a:r>
              <a:rPr lang="es-PE" b="1" dirty="0">
                <a:solidFill>
                  <a:srgbClr val="000000"/>
                </a:solidFill>
                <a:effectLst/>
                <a:latin typeface="Arial" panose="020B0604020202020204" pitchFamily="34" charset="0"/>
                <a:ea typeface="Arial" panose="020B0604020202020204" pitchFamily="34" charset="0"/>
              </a:rPr>
              <a:t>FACULTAD DE CIENCIAS EMPRESARIALES</a:t>
            </a:r>
            <a:endParaRPr lang="es-PE" sz="1200" b="1" dirty="0">
              <a:effectLst/>
              <a:latin typeface="Arial" panose="020B0604020202020204" pitchFamily="34" charset="0"/>
              <a:ea typeface="Arial" panose="020B0604020202020204" pitchFamily="34" charset="0"/>
            </a:endParaRPr>
          </a:p>
          <a:p>
            <a:pPr marL="292100" marR="127000" algn="ctr">
              <a:spcBef>
                <a:spcPts val="1000"/>
              </a:spcBef>
              <a:spcAft>
                <a:spcPts val="0"/>
              </a:spcAft>
            </a:pPr>
            <a:r>
              <a:rPr lang="es-PE" sz="1600" b="1" dirty="0">
                <a:solidFill>
                  <a:srgbClr val="000000"/>
                </a:solidFill>
                <a:effectLst/>
                <a:latin typeface="Arial" panose="020B0604020202020204" pitchFamily="34" charset="0"/>
                <a:ea typeface="Arial" panose="020B0604020202020204" pitchFamily="34" charset="0"/>
              </a:rPr>
              <a:t>ESCUELA PROFESIONAL DE CONTABILIDAD</a:t>
            </a:r>
            <a:endParaRPr lang="es-PE" sz="1200" b="1" dirty="0">
              <a:effectLst/>
              <a:latin typeface="Arial" panose="020B0604020202020204" pitchFamily="34" charset="0"/>
              <a:ea typeface="Arial" panose="020B0604020202020204" pitchFamily="34" charset="0"/>
            </a:endParaRPr>
          </a:p>
        </p:txBody>
      </p:sp>
      <p:sp>
        <p:nvSpPr>
          <p:cNvPr id="8" name="CuadroTexto 7">
            <a:extLst>
              <a:ext uri="{FF2B5EF4-FFF2-40B4-BE49-F238E27FC236}">
                <a16:creationId xmlns:a16="http://schemas.microsoft.com/office/drawing/2014/main" id="{28A353CF-F3AB-B073-BCEC-320B438C1917}"/>
              </a:ext>
            </a:extLst>
          </p:cNvPr>
          <p:cNvSpPr txBox="1"/>
          <p:nvPr/>
        </p:nvSpPr>
        <p:spPr>
          <a:xfrm>
            <a:off x="671202" y="1433305"/>
            <a:ext cx="10598480" cy="456535"/>
          </a:xfrm>
          <a:prstGeom prst="rect">
            <a:avLst/>
          </a:prstGeom>
          <a:noFill/>
        </p:spPr>
        <p:txBody>
          <a:bodyPr wrap="square">
            <a:spAutoFit/>
          </a:bodyPr>
          <a:lstStyle/>
          <a:p>
            <a:pPr algn="ctr">
              <a:lnSpc>
                <a:spcPct val="150000"/>
              </a:lnSpc>
              <a:spcBef>
                <a:spcPts val="1200"/>
              </a:spcBef>
              <a:spcAft>
                <a:spcPts val="1200"/>
              </a:spcAft>
            </a:pPr>
            <a:r>
              <a:rPr lang="es-PE" sz="1800" b="1" dirty="0">
                <a:solidFill>
                  <a:srgbClr val="000000"/>
                </a:solidFill>
                <a:effectLst/>
                <a:latin typeface="Arial" panose="020B0604020202020204" pitchFamily="34" charset="0"/>
                <a:ea typeface="Arial" panose="020B0604020202020204" pitchFamily="34" charset="0"/>
              </a:rPr>
              <a:t>El Impuesto Predial y el Presupuesto de la Municipalidad Provincial de Tacna,2022.</a:t>
            </a:r>
            <a:endParaRPr lang="es-PE" sz="1600" dirty="0">
              <a:effectLst/>
              <a:latin typeface="Arial" panose="020B0604020202020204" pitchFamily="34" charset="0"/>
              <a:ea typeface="Arial" panose="020B0604020202020204" pitchFamily="34" charset="0"/>
            </a:endParaRPr>
          </a:p>
        </p:txBody>
      </p:sp>
      <p:sp>
        <p:nvSpPr>
          <p:cNvPr id="10" name="CuadroTexto 9">
            <a:extLst>
              <a:ext uri="{FF2B5EF4-FFF2-40B4-BE49-F238E27FC236}">
                <a16:creationId xmlns:a16="http://schemas.microsoft.com/office/drawing/2014/main" id="{CD768398-9EB8-C7C9-FD7C-C041E8A04DD0}"/>
              </a:ext>
            </a:extLst>
          </p:cNvPr>
          <p:cNvSpPr txBox="1"/>
          <p:nvPr/>
        </p:nvSpPr>
        <p:spPr>
          <a:xfrm>
            <a:off x="3038103" y="2152274"/>
            <a:ext cx="6115792" cy="872034"/>
          </a:xfrm>
          <a:prstGeom prst="rect">
            <a:avLst/>
          </a:prstGeom>
          <a:noFill/>
        </p:spPr>
        <p:txBody>
          <a:bodyPr wrap="square">
            <a:spAutoFit/>
          </a:bodyPr>
          <a:lstStyle/>
          <a:p>
            <a:pPr algn="ctr">
              <a:lnSpc>
                <a:spcPct val="150000"/>
              </a:lnSpc>
              <a:spcBef>
                <a:spcPts val="1200"/>
              </a:spcBef>
              <a:spcAft>
                <a:spcPts val="1200"/>
              </a:spcAft>
            </a:pPr>
            <a:r>
              <a:rPr lang="es-PE" sz="1800" dirty="0">
                <a:solidFill>
                  <a:srgbClr val="000000"/>
                </a:solidFill>
                <a:effectLst/>
                <a:latin typeface="Arial" panose="020B0604020202020204" pitchFamily="34" charset="0"/>
                <a:ea typeface="Arial" panose="020B0604020202020204" pitchFamily="34" charset="0"/>
              </a:rPr>
              <a:t>TRABAJO DE INVESTIGACIÓN PARA OBTENER EL GRADO ACADEMICO DE: Contador Público</a:t>
            </a:r>
            <a:endParaRPr lang="es-PE" sz="1800" dirty="0">
              <a:effectLst/>
              <a:latin typeface="Arial" panose="020B0604020202020204" pitchFamily="34" charset="0"/>
              <a:ea typeface="Arial" panose="020B0604020202020204" pitchFamily="34" charset="0"/>
            </a:endParaRPr>
          </a:p>
        </p:txBody>
      </p:sp>
      <p:sp>
        <p:nvSpPr>
          <p:cNvPr id="12" name="CuadroTexto 11">
            <a:extLst>
              <a:ext uri="{FF2B5EF4-FFF2-40B4-BE49-F238E27FC236}">
                <a16:creationId xmlns:a16="http://schemas.microsoft.com/office/drawing/2014/main" id="{2D7CA9B1-9CB9-6446-36BB-E413BD447AA4}"/>
              </a:ext>
            </a:extLst>
          </p:cNvPr>
          <p:cNvSpPr txBox="1"/>
          <p:nvPr/>
        </p:nvSpPr>
        <p:spPr>
          <a:xfrm>
            <a:off x="1904010" y="3232960"/>
            <a:ext cx="8383979" cy="2118529"/>
          </a:xfrm>
          <a:prstGeom prst="rect">
            <a:avLst/>
          </a:prstGeom>
          <a:noFill/>
        </p:spPr>
        <p:txBody>
          <a:bodyPr wrap="square">
            <a:spAutoFit/>
          </a:bodyPr>
          <a:lstStyle/>
          <a:p>
            <a:pPr algn="ctr">
              <a:lnSpc>
                <a:spcPct val="150000"/>
              </a:lnSpc>
            </a:pPr>
            <a:r>
              <a:rPr lang="es-PE" sz="1800" b="1" dirty="0">
                <a:effectLst/>
                <a:latin typeface="Arial" panose="020B0604020202020204" pitchFamily="34" charset="0"/>
                <a:ea typeface="Arial" panose="020B0604020202020204" pitchFamily="34" charset="0"/>
              </a:rPr>
              <a:t>AUTORA:</a:t>
            </a:r>
            <a:endParaRPr lang="es-PE" sz="1800" dirty="0">
              <a:effectLst/>
              <a:latin typeface="Arial" panose="020B0604020202020204" pitchFamily="34" charset="0"/>
              <a:ea typeface="Arial" panose="020B0604020202020204" pitchFamily="34" charset="0"/>
            </a:endParaRPr>
          </a:p>
          <a:p>
            <a:pPr algn="ctr">
              <a:lnSpc>
                <a:spcPct val="150000"/>
              </a:lnSpc>
            </a:pPr>
            <a:r>
              <a:rPr lang="es-PE" sz="1800" dirty="0">
                <a:solidFill>
                  <a:srgbClr val="000000"/>
                </a:solidFill>
                <a:effectLst/>
                <a:latin typeface="Arial" panose="020B0604020202020204" pitchFamily="34" charset="0"/>
                <a:ea typeface="Arial" panose="020B0604020202020204" pitchFamily="34" charset="0"/>
              </a:rPr>
              <a:t>Torres Torres, Mirella Elizabeth (orcid.org/</a:t>
            </a:r>
            <a:r>
              <a:rPr lang="es-PE" sz="1800" dirty="0">
                <a:effectLst/>
                <a:latin typeface="Arial" panose="020B0604020202020204" pitchFamily="34" charset="0"/>
                <a:ea typeface="Arial" panose="020B0604020202020204" pitchFamily="34" charset="0"/>
              </a:rPr>
              <a:t>0009-0002-1869-5106</a:t>
            </a:r>
            <a:r>
              <a:rPr lang="es-PE" sz="1800" dirty="0">
                <a:solidFill>
                  <a:srgbClr val="000000"/>
                </a:solidFill>
                <a:effectLst/>
                <a:latin typeface="Arial" panose="020B0604020202020204" pitchFamily="34" charset="0"/>
                <a:ea typeface="Arial" panose="020B0604020202020204" pitchFamily="34" charset="0"/>
              </a:rPr>
              <a:t>)</a:t>
            </a:r>
            <a:endParaRPr lang="es-PE" sz="1800" dirty="0">
              <a:effectLst/>
              <a:latin typeface="Arial" panose="020B0604020202020204" pitchFamily="34" charset="0"/>
              <a:ea typeface="Arial" panose="020B0604020202020204" pitchFamily="34" charset="0"/>
            </a:endParaRPr>
          </a:p>
          <a:p>
            <a:pPr algn="ctr">
              <a:lnSpc>
                <a:spcPct val="150000"/>
              </a:lnSpc>
            </a:pPr>
            <a:r>
              <a:rPr lang="es-PE" sz="1800" b="1" dirty="0">
                <a:effectLst/>
                <a:latin typeface="Arial" panose="020B0604020202020204" pitchFamily="34" charset="0"/>
                <a:ea typeface="Arial" panose="020B0604020202020204" pitchFamily="34" charset="0"/>
              </a:rPr>
              <a:t> </a:t>
            </a:r>
            <a:endParaRPr lang="es-PE" sz="1800" dirty="0">
              <a:effectLst/>
              <a:latin typeface="Arial" panose="020B0604020202020204" pitchFamily="34" charset="0"/>
              <a:ea typeface="Arial" panose="020B0604020202020204" pitchFamily="34" charset="0"/>
            </a:endParaRPr>
          </a:p>
          <a:p>
            <a:pPr algn="ctr">
              <a:lnSpc>
                <a:spcPct val="150000"/>
              </a:lnSpc>
            </a:pPr>
            <a:r>
              <a:rPr lang="es-PE" sz="1800" b="1" dirty="0">
                <a:solidFill>
                  <a:srgbClr val="000000"/>
                </a:solidFill>
                <a:effectLst/>
                <a:latin typeface="Arial" panose="020B0604020202020204" pitchFamily="34" charset="0"/>
                <a:ea typeface="Arial" panose="020B0604020202020204" pitchFamily="34" charset="0"/>
              </a:rPr>
              <a:t>ASESOR:</a:t>
            </a:r>
            <a:endParaRPr lang="es-PE" sz="1800" dirty="0">
              <a:effectLst/>
              <a:latin typeface="Arial" panose="020B0604020202020204" pitchFamily="34" charset="0"/>
              <a:ea typeface="Arial" panose="020B0604020202020204" pitchFamily="34" charset="0"/>
            </a:endParaRPr>
          </a:p>
          <a:p>
            <a:pPr algn="ctr">
              <a:lnSpc>
                <a:spcPct val="150000"/>
              </a:lnSpc>
              <a:spcAft>
                <a:spcPts val="1200"/>
              </a:spcAft>
            </a:pPr>
            <a:r>
              <a:rPr lang="es-PE" sz="1800" b="1" dirty="0">
                <a:solidFill>
                  <a:srgbClr val="000000"/>
                </a:solidFill>
                <a:effectLst/>
                <a:latin typeface="Arial" panose="020B0604020202020204" pitchFamily="34" charset="0"/>
                <a:ea typeface="Arial" panose="020B0604020202020204" pitchFamily="34" charset="0"/>
              </a:rPr>
              <a:t> </a:t>
            </a:r>
            <a:r>
              <a:rPr lang="es-PE" sz="1800" dirty="0">
                <a:solidFill>
                  <a:srgbClr val="000000"/>
                </a:solidFill>
                <a:effectLst/>
                <a:latin typeface="Arial" panose="020B0604020202020204" pitchFamily="34" charset="0"/>
                <a:ea typeface="Arial" panose="020B0604020202020204" pitchFamily="34" charset="0"/>
              </a:rPr>
              <a:t>Dr. Urrutia Flores, Manuel (orcid.org/000-0003-33732-4490)</a:t>
            </a:r>
            <a:endParaRPr lang="es-PE" sz="1800" dirty="0">
              <a:effectLst/>
              <a:latin typeface="Arial" panose="020B0604020202020204" pitchFamily="34" charset="0"/>
              <a:ea typeface="Arial" panose="020B0604020202020204" pitchFamily="34" charset="0"/>
            </a:endParaRPr>
          </a:p>
        </p:txBody>
      </p:sp>
    </p:spTree>
    <p:extLst>
      <p:ext uri="{BB962C8B-B14F-4D97-AF65-F5344CB8AC3E}">
        <p14:creationId xmlns:p14="http://schemas.microsoft.com/office/powerpoint/2010/main" val="942807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5D0B9F-3384-AC2C-2E6C-8DB3752B0158}"/>
              </a:ext>
            </a:extLst>
          </p:cNvPr>
          <p:cNvSpPr>
            <a:spLocks noGrp="1"/>
          </p:cNvSpPr>
          <p:nvPr>
            <p:ph type="title" idx="4294967295"/>
          </p:nvPr>
        </p:nvSpPr>
        <p:spPr>
          <a:xfrm>
            <a:off x="1995054" y="91313"/>
            <a:ext cx="7254875" cy="407987"/>
          </a:xfrm>
        </p:spPr>
        <p:txBody>
          <a:bodyPr>
            <a:normAutofit fontScale="90000"/>
          </a:bodyPr>
          <a:lstStyle/>
          <a:p>
            <a:r>
              <a:rPr lang="es-PE" dirty="0"/>
              <a:t>INTRODUCCIÓN  </a:t>
            </a:r>
          </a:p>
        </p:txBody>
      </p:sp>
      <p:sp>
        <p:nvSpPr>
          <p:cNvPr id="7" name="CuadroTexto 6">
            <a:extLst>
              <a:ext uri="{FF2B5EF4-FFF2-40B4-BE49-F238E27FC236}">
                <a16:creationId xmlns:a16="http://schemas.microsoft.com/office/drawing/2014/main" id="{325E6988-97D2-FBCB-4F4E-330FF3B7732F}"/>
              </a:ext>
            </a:extLst>
          </p:cNvPr>
          <p:cNvSpPr txBox="1"/>
          <p:nvPr/>
        </p:nvSpPr>
        <p:spPr>
          <a:xfrm>
            <a:off x="872837" y="872375"/>
            <a:ext cx="8829303" cy="923330"/>
          </a:xfrm>
          <a:prstGeom prst="rect">
            <a:avLst/>
          </a:prstGeom>
          <a:noFill/>
        </p:spPr>
        <p:txBody>
          <a:bodyPr wrap="square">
            <a:spAutoFit/>
          </a:bodyPr>
          <a:lstStyle/>
          <a:p>
            <a:r>
              <a:rPr lang="es-PE" sz="1800" dirty="0">
                <a:effectLst/>
                <a:latin typeface="Arial" panose="020B0604020202020204" pitchFamily="34" charset="0"/>
                <a:ea typeface="Calibri" panose="020F0502020204030204" pitchFamily="34" charset="0"/>
              </a:rPr>
              <a:t>Esta investigación contribuye al cumplimiento del </a:t>
            </a:r>
            <a:r>
              <a:rPr lang="es-PE" sz="1800" b="1" dirty="0">
                <a:effectLst/>
                <a:latin typeface="Arial" panose="020B0604020202020204" pitchFamily="34" charset="0"/>
                <a:ea typeface="Calibri" panose="020F0502020204030204" pitchFamily="34" charset="0"/>
              </a:rPr>
              <a:t>ODS 11: Ciudades y comunidades sostenibles</a:t>
            </a:r>
            <a:r>
              <a:rPr lang="es-PE" sz="1800" dirty="0">
                <a:effectLst/>
                <a:latin typeface="Arial" panose="020B0604020202020204" pitchFamily="34" charset="0"/>
                <a:ea typeface="Calibri" panose="020F0502020204030204" pitchFamily="34" charset="0"/>
              </a:rPr>
              <a:t>, al promover una recaudación eficiente para el desarrollo urbano y la mejora de los servicios públicos</a:t>
            </a:r>
            <a:r>
              <a:rPr lang="es-PE" dirty="0">
                <a:latin typeface="Arial" panose="020B0604020202020204" pitchFamily="34" charset="0"/>
                <a:ea typeface="Calibri" panose="020F0502020204030204" pitchFamily="34" charset="0"/>
              </a:rPr>
              <a:t>.</a:t>
            </a:r>
            <a:endParaRPr lang="es-PE" dirty="0"/>
          </a:p>
        </p:txBody>
      </p:sp>
    </p:spTree>
    <p:extLst>
      <p:ext uri="{BB962C8B-B14F-4D97-AF65-F5344CB8AC3E}">
        <p14:creationId xmlns:p14="http://schemas.microsoft.com/office/powerpoint/2010/main" val="4195048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1439CAF-7C12-BE67-A852-5B91B64F5B7B}"/>
              </a:ext>
            </a:extLst>
          </p:cNvPr>
          <p:cNvSpPr>
            <a:spLocks noGrp="1"/>
          </p:cNvSpPr>
          <p:nvPr>
            <p:ph idx="4294967295"/>
          </p:nvPr>
        </p:nvSpPr>
        <p:spPr>
          <a:xfrm>
            <a:off x="871870" y="2981103"/>
            <a:ext cx="9601200" cy="2919968"/>
          </a:xfrm>
        </p:spPr>
        <p:txBody>
          <a:bodyPr>
            <a:normAutofit/>
          </a:bodyPr>
          <a:lstStyle/>
          <a:p>
            <a:r>
              <a:rPr lang="es-PE" sz="1800" dirty="0">
                <a:effectLst/>
                <a:latin typeface="Arial" panose="020B0604020202020204" pitchFamily="34" charset="0"/>
                <a:ea typeface="Arial" panose="020B0604020202020204" pitchFamily="34" charset="0"/>
              </a:rPr>
              <a:t>¿Qué relación existe entre el cumplimiento tributario y el presupuesto en la municipalidad provincial de Tacna,2022? </a:t>
            </a:r>
            <a:endParaRPr lang="es-PE" sz="1800" dirty="0">
              <a:latin typeface="Arial" panose="020B0604020202020204" pitchFamily="34" charset="0"/>
              <a:ea typeface="Arial" panose="020B0604020202020204" pitchFamily="34" charset="0"/>
            </a:endParaRPr>
          </a:p>
          <a:p>
            <a:r>
              <a:rPr lang="es-PE" sz="1800" dirty="0">
                <a:effectLst/>
                <a:latin typeface="Arial" panose="020B0604020202020204" pitchFamily="34" charset="0"/>
                <a:ea typeface="Arial" panose="020B0604020202020204" pitchFamily="34" charset="0"/>
              </a:rPr>
              <a:t>¿Qué relación existe entre los contribuyentes y el presupuesto en la municipalidad provincial de Tacna,2022?</a:t>
            </a:r>
          </a:p>
          <a:p>
            <a:r>
              <a:rPr lang="es-PE" sz="1800" dirty="0">
                <a:effectLst/>
                <a:latin typeface="Arial" panose="020B0604020202020204" pitchFamily="34" charset="0"/>
                <a:ea typeface="Arial" panose="020B0604020202020204" pitchFamily="34" charset="0"/>
              </a:rPr>
              <a:t> ¿Qué relación existe entre la valoración de bienes y el presupuesto en la municipalidad provincial de Tacna, 2022? </a:t>
            </a:r>
          </a:p>
          <a:p>
            <a:r>
              <a:rPr lang="es-PE" sz="1800" dirty="0">
                <a:effectLst/>
                <a:latin typeface="Arial" panose="020B0604020202020204" pitchFamily="34" charset="0"/>
                <a:ea typeface="Arial" panose="020B0604020202020204" pitchFamily="34" charset="0"/>
              </a:rPr>
              <a:t>¿Qué relación existe entre la determinación tributaria y el presupuesto en la municipalidad provincial de Tacna, 2022?</a:t>
            </a:r>
            <a:endParaRPr lang="es-PE" dirty="0"/>
          </a:p>
        </p:txBody>
      </p:sp>
      <p:sp>
        <p:nvSpPr>
          <p:cNvPr id="6" name="Título 1">
            <a:extLst>
              <a:ext uri="{FF2B5EF4-FFF2-40B4-BE49-F238E27FC236}">
                <a16:creationId xmlns:a16="http://schemas.microsoft.com/office/drawing/2014/main" id="{648D07E1-40A2-1C49-6F0D-AA24C213ED25}"/>
              </a:ext>
            </a:extLst>
          </p:cNvPr>
          <p:cNvSpPr txBox="1">
            <a:spLocks/>
          </p:cNvSpPr>
          <p:nvPr/>
        </p:nvSpPr>
        <p:spPr>
          <a:xfrm>
            <a:off x="0" y="648366"/>
            <a:ext cx="6866858" cy="651934"/>
          </a:xfrm>
          <a:prstGeom prst="rect">
            <a:avLst/>
          </a:prstGeom>
          <a:effectLst/>
        </p:spPr>
        <p:txBody>
          <a:bodyPr vert="horz" lIns="91440" tIns="45720" rIns="91440" bIns="45720" rtlCol="0" anchor="ct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PE" sz="3600" b="1" dirty="0"/>
              <a:t>PROBLEMA GENERAL</a:t>
            </a:r>
          </a:p>
        </p:txBody>
      </p:sp>
      <p:sp>
        <p:nvSpPr>
          <p:cNvPr id="8" name="CuadroTexto 7">
            <a:extLst>
              <a:ext uri="{FF2B5EF4-FFF2-40B4-BE49-F238E27FC236}">
                <a16:creationId xmlns:a16="http://schemas.microsoft.com/office/drawing/2014/main" id="{0E587BC6-F1F1-31C1-18E8-FAF4560CEF49}"/>
              </a:ext>
            </a:extLst>
          </p:cNvPr>
          <p:cNvSpPr txBox="1"/>
          <p:nvPr/>
        </p:nvSpPr>
        <p:spPr>
          <a:xfrm>
            <a:off x="786808" y="1467882"/>
            <a:ext cx="9962707" cy="646331"/>
          </a:xfrm>
          <a:prstGeom prst="rect">
            <a:avLst/>
          </a:prstGeom>
          <a:noFill/>
        </p:spPr>
        <p:txBody>
          <a:bodyPr wrap="square">
            <a:spAutoFit/>
          </a:bodyPr>
          <a:lstStyle/>
          <a:p>
            <a:r>
              <a:rPr lang="es-PE" sz="1800" dirty="0">
                <a:effectLst/>
                <a:latin typeface="Arial" panose="020B0604020202020204" pitchFamily="34" charset="0"/>
                <a:ea typeface="Arial" panose="020B0604020202020204" pitchFamily="34" charset="0"/>
              </a:rPr>
              <a:t>¿Qué relación existe entre el Impuesto Predial y el Presupuesto en la Municipalidad Provincial de Tacna,2022? </a:t>
            </a:r>
          </a:p>
        </p:txBody>
      </p:sp>
      <p:sp>
        <p:nvSpPr>
          <p:cNvPr id="9" name="Título 1">
            <a:extLst>
              <a:ext uri="{FF2B5EF4-FFF2-40B4-BE49-F238E27FC236}">
                <a16:creationId xmlns:a16="http://schemas.microsoft.com/office/drawing/2014/main" id="{A15735A4-CBCE-84F5-6500-E36C2F535001}"/>
              </a:ext>
            </a:extLst>
          </p:cNvPr>
          <p:cNvSpPr txBox="1">
            <a:spLocks/>
          </p:cNvSpPr>
          <p:nvPr/>
        </p:nvSpPr>
        <p:spPr>
          <a:xfrm>
            <a:off x="457200" y="2165524"/>
            <a:ext cx="6866858" cy="651934"/>
          </a:xfrm>
          <a:prstGeom prst="rect">
            <a:avLst/>
          </a:prstGeom>
          <a:effectLst/>
        </p:spPr>
        <p:txBody>
          <a:bodyPr vert="horz" lIns="91440" tIns="45720" rIns="91440" bIns="45720" rtlCol="0" anchor="ct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PE" sz="3600" b="1" dirty="0"/>
              <a:t>PROBLEMAS ESPECIFICOS</a:t>
            </a:r>
          </a:p>
        </p:txBody>
      </p:sp>
    </p:spTree>
    <p:extLst>
      <p:ext uri="{BB962C8B-B14F-4D97-AF65-F5344CB8AC3E}">
        <p14:creationId xmlns:p14="http://schemas.microsoft.com/office/powerpoint/2010/main" val="11735877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8CA166-B4B5-671D-1BD9-23DFEA843EC1}"/>
              </a:ext>
            </a:extLst>
          </p:cNvPr>
          <p:cNvSpPr>
            <a:spLocks noGrp="1"/>
          </p:cNvSpPr>
          <p:nvPr>
            <p:ph type="title" idx="4294967295"/>
          </p:nvPr>
        </p:nvSpPr>
        <p:spPr>
          <a:xfrm>
            <a:off x="940982" y="727444"/>
            <a:ext cx="6030913" cy="506412"/>
          </a:xfrm>
        </p:spPr>
        <p:txBody>
          <a:bodyPr>
            <a:normAutofit fontScale="90000"/>
          </a:bodyPr>
          <a:lstStyle/>
          <a:p>
            <a:r>
              <a:rPr lang="es-PE" b="1" dirty="0"/>
              <a:t>OBJETIVOS GENERAL</a:t>
            </a:r>
          </a:p>
        </p:txBody>
      </p:sp>
      <p:sp>
        <p:nvSpPr>
          <p:cNvPr id="3" name="Marcador de contenido 2">
            <a:extLst>
              <a:ext uri="{FF2B5EF4-FFF2-40B4-BE49-F238E27FC236}">
                <a16:creationId xmlns:a16="http://schemas.microsoft.com/office/drawing/2014/main" id="{F97B337C-71E3-16CC-96F9-6126F865D556}"/>
              </a:ext>
            </a:extLst>
          </p:cNvPr>
          <p:cNvSpPr>
            <a:spLocks noGrp="1"/>
          </p:cNvSpPr>
          <p:nvPr>
            <p:ph idx="4294967295"/>
          </p:nvPr>
        </p:nvSpPr>
        <p:spPr>
          <a:xfrm>
            <a:off x="940982" y="2828976"/>
            <a:ext cx="9601200" cy="2893310"/>
          </a:xfrm>
        </p:spPr>
        <p:txBody>
          <a:bodyPr/>
          <a:lstStyle/>
          <a:p>
            <a:r>
              <a:rPr lang="es-PE" sz="1800" dirty="0">
                <a:effectLst/>
                <a:latin typeface="Arial" panose="020B0604020202020204" pitchFamily="34" charset="0"/>
                <a:ea typeface="Arial" panose="020B0604020202020204" pitchFamily="34" charset="0"/>
              </a:rPr>
              <a:t>determinar la relación que existe entre la cultura tributaria y el presupuesto en la Municipalidad de Tacna, 2022.</a:t>
            </a:r>
          </a:p>
          <a:p>
            <a:r>
              <a:rPr lang="es-PE" sz="1800" dirty="0">
                <a:effectLst/>
                <a:latin typeface="Arial" panose="020B0604020202020204" pitchFamily="34" charset="0"/>
                <a:ea typeface="Arial" panose="020B0604020202020204" pitchFamily="34" charset="0"/>
              </a:rPr>
              <a:t>determinar la relación que existe entre contribuyentes y el presupuesto en la Municipalidad Provincial Tacna, 2022.</a:t>
            </a:r>
          </a:p>
          <a:p>
            <a:r>
              <a:rPr lang="es-PE" sz="1800" dirty="0">
                <a:effectLst/>
                <a:latin typeface="Arial" panose="020B0604020202020204" pitchFamily="34" charset="0"/>
                <a:ea typeface="Arial" panose="020B0604020202020204" pitchFamily="34" charset="0"/>
              </a:rPr>
              <a:t>determinar la relación que existe entre el valoración de bienes y el presupuesto en la Municipalidad Provincial de Tacna 2022.</a:t>
            </a:r>
          </a:p>
          <a:p>
            <a:r>
              <a:rPr lang="es-PE" sz="1800" dirty="0">
                <a:effectLst/>
                <a:latin typeface="Arial" panose="020B0604020202020204" pitchFamily="34" charset="0"/>
                <a:ea typeface="Arial" panose="020B0604020202020204" pitchFamily="34" charset="0"/>
              </a:rPr>
              <a:t> determinar la relación que existe entre la determinación tributaria y el presupuesto en la Municipalidad Provincial de Tacna 2022.</a:t>
            </a:r>
          </a:p>
          <a:p>
            <a:endParaRPr lang="es-PE" dirty="0"/>
          </a:p>
        </p:txBody>
      </p:sp>
      <p:sp>
        <p:nvSpPr>
          <p:cNvPr id="5" name="CuadroTexto 4">
            <a:extLst>
              <a:ext uri="{FF2B5EF4-FFF2-40B4-BE49-F238E27FC236}">
                <a16:creationId xmlns:a16="http://schemas.microsoft.com/office/drawing/2014/main" id="{59BA96A2-1C10-D007-13E6-701C987A2E19}"/>
              </a:ext>
            </a:extLst>
          </p:cNvPr>
          <p:cNvSpPr txBox="1"/>
          <p:nvPr/>
        </p:nvSpPr>
        <p:spPr>
          <a:xfrm>
            <a:off x="1116420" y="1426285"/>
            <a:ext cx="9425762" cy="646331"/>
          </a:xfrm>
          <a:prstGeom prst="rect">
            <a:avLst/>
          </a:prstGeom>
          <a:noFill/>
        </p:spPr>
        <p:txBody>
          <a:bodyPr wrap="square">
            <a:spAutoFit/>
          </a:bodyPr>
          <a:lstStyle/>
          <a:p>
            <a:r>
              <a:rPr lang="es-PE" sz="1800" dirty="0">
                <a:effectLst/>
                <a:latin typeface="Arial" panose="020B0604020202020204" pitchFamily="34" charset="0"/>
                <a:ea typeface="Arial" panose="020B0604020202020204" pitchFamily="34" charset="0"/>
              </a:rPr>
              <a:t>la relación que existe entre el Impuesto Predial y el presupuesto en la Municipalidad Provincial de Tacna, 2022. </a:t>
            </a:r>
            <a:endParaRPr lang="es-PE" dirty="0"/>
          </a:p>
        </p:txBody>
      </p:sp>
      <p:sp>
        <p:nvSpPr>
          <p:cNvPr id="4" name="Título 1">
            <a:extLst>
              <a:ext uri="{FF2B5EF4-FFF2-40B4-BE49-F238E27FC236}">
                <a16:creationId xmlns:a16="http://schemas.microsoft.com/office/drawing/2014/main" id="{3143CF05-507E-928C-8C7A-1BB2773CF135}"/>
              </a:ext>
            </a:extLst>
          </p:cNvPr>
          <p:cNvSpPr txBox="1">
            <a:spLocks/>
          </p:cNvSpPr>
          <p:nvPr/>
        </p:nvSpPr>
        <p:spPr>
          <a:xfrm>
            <a:off x="940982" y="2156922"/>
            <a:ext cx="5317314" cy="646330"/>
          </a:xfrm>
          <a:prstGeom prst="rect">
            <a:avLst/>
          </a:prstGeom>
          <a:effectLst/>
        </p:spPr>
        <p:txBody>
          <a:bodyPr vert="horz" lIns="91440" tIns="45720" rIns="91440" bIns="45720" rtlCol="0" anchor="ctr">
            <a:normAutofit fontScale="67500" lnSpcReduction="20000"/>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PE" b="1" dirty="0"/>
              <a:t>OBJETIVOS ESPECIFICOS</a:t>
            </a:r>
          </a:p>
        </p:txBody>
      </p:sp>
    </p:spTree>
    <p:extLst>
      <p:ext uri="{BB962C8B-B14F-4D97-AF65-F5344CB8AC3E}">
        <p14:creationId xmlns:p14="http://schemas.microsoft.com/office/powerpoint/2010/main" val="3933043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041D34-DBBD-B349-D9DC-FC29C621844F}"/>
              </a:ext>
            </a:extLst>
          </p:cNvPr>
          <p:cNvSpPr>
            <a:spLocks noGrp="1"/>
          </p:cNvSpPr>
          <p:nvPr>
            <p:ph type="title" idx="4294967295"/>
          </p:nvPr>
        </p:nvSpPr>
        <p:spPr>
          <a:xfrm>
            <a:off x="-795646" y="777875"/>
            <a:ext cx="9601200" cy="407988"/>
          </a:xfrm>
        </p:spPr>
        <p:txBody>
          <a:bodyPr>
            <a:normAutofit fontScale="90000"/>
          </a:bodyPr>
          <a:lstStyle/>
          <a:p>
            <a:r>
              <a:rPr lang="es-PE" b="1" dirty="0"/>
              <a:t>HIPOTESIS GENERAL</a:t>
            </a:r>
          </a:p>
        </p:txBody>
      </p:sp>
      <p:sp>
        <p:nvSpPr>
          <p:cNvPr id="3" name="Marcador de contenido 2">
            <a:extLst>
              <a:ext uri="{FF2B5EF4-FFF2-40B4-BE49-F238E27FC236}">
                <a16:creationId xmlns:a16="http://schemas.microsoft.com/office/drawing/2014/main" id="{DA807000-3A3F-0D18-66C7-CFBA0F8C9B42}"/>
              </a:ext>
            </a:extLst>
          </p:cNvPr>
          <p:cNvSpPr>
            <a:spLocks noGrp="1"/>
          </p:cNvSpPr>
          <p:nvPr>
            <p:ph idx="4294967295"/>
          </p:nvPr>
        </p:nvSpPr>
        <p:spPr>
          <a:xfrm>
            <a:off x="997527" y="2901806"/>
            <a:ext cx="9601200" cy="2893311"/>
          </a:xfrm>
        </p:spPr>
        <p:txBody>
          <a:bodyPr/>
          <a:lstStyle/>
          <a:p>
            <a:r>
              <a:rPr lang="es-PE" sz="1800" dirty="0">
                <a:effectLst/>
                <a:latin typeface="Arial" panose="020B0604020202020204" pitchFamily="34" charset="0"/>
                <a:ea typeface="Arial" panose="020B0604020202020204" pitchFamily="34" charset="0"/>
              </a:rPr>
              <a:t>El cumplimiento tributario se relaciona directa y significativamente con el presupuesto en la Municipalidad provincial de Tacna,2022.</a:t>
            </a:r>
          </a:p>
          <a:p>
            <a:r>
              <a:rPr lang="es-PE" sz="1800" dirty="0">
                <a:effectLst/>
                <a:latin typeface="Arial" panose="020B0604020202020204" pitchFamily="34" charset="0"/>
                <a:ea typeface="Arial" panose="020B0604020202020204" pitchFamily="34" charset="0"/>
              </a:rPr>
              <a:t>Los contribuyentes se relaciona directa y significativamente con el presupuesto en la Municipalidad Provincial de Tacna,2022.</a:t>
            </a:r>
          </a:p>
          <a:p>
            <a:r>
              <a:rPr lang="es-PE" sz="1800" dirty="0">
                <a:latin typeface="Arial" panose="020B0604020202020204" pitchFamily="34" charset="0"/>
                <a:ea typeface="Arial" panose="020B0604020202020204" pitchFamily="34" charset="0"/>
              </a:rPr>
              <a:t>L</a:t>
            </a:r>
            <a:r>
              <a:rPr lang="es-PE" sz="1800" dirty="0">
                <a:effectLst/>
                <a:latin typeface="Arial" panose="020B0604020202020204" pitchFamily="34" charset="0"/>
                <a:ea typeface="Arial" panose="020B0604020202020204" pitchFamily="34" charset="0"/>
              </a:rPr>
              <a:t>a valoración de bienes se relaciona directa y significativamente con el presupuesto en la Municipalidad Provincial de Tacna,2022.</a:t>
            </a:r>
          </a:p>
          <a:p>
            <a:r>
              <a:rPr lang="es-PE" sz="1800" dirty="0">
                <a:effectLst/>
                <a:latin typeface="Arial" panose="020B0604020202020204" pitchFamily="34" charset="0"/>
                <a:ea typeface="Arial" panose="020B0604020202020204" pitchFamily="34" charset="0"/>
              </a:rPr>
              <a:t>La determinación tributaria se relaciona directa y significativamente en la Municipalidad Provincial de Tacna,2022.</a:t>
            </a:r>
            <a:endParaRPr lang="es-PE" dirty="0"/>
          </a:p>
        </p:txBody>
      </p:sp>
      <p:sp>
        <p:nvSpPr>
          <p:cNvPr id="5" name="CuadroTexto 4">
            <a:extLst>
              <a:ext uri="{FF2B5EF4-FFF2-40B4-BE49-F238E27FC236}">
                <a16:creationId xmlns:a16="http://schemas.microsoft.com/office/drawing/2014/main" id="{098E41CE-89BA-EEE0-BA7F-C882779E8242}"/>
              </a:ext>
            </a:extLst>
          </p:cNvPr>
          <p:cNvSpPr txBox="1"/>
          <p:nvPr/>
        </p:nvSpPr>
        <p:spPr>
          <a:xfrm>
            <a:off x="1241961" y="1450263"/>
            <a:ext cx="9708078" cy="646331"/>
          </a:xfrm>
          <a:prstGeom prst="rect">
            <a:avLst/>
          </a:prstGeom>
          <a:noFill/>
        </p:spPr>
        <p:txBody>
          <a:bodyPr wrap="square">
            <a:spAutoFit/>
          </a:bodyPr>
          <a:lstStyle/>
          <a:p>
            <a:r>
              <a:rPr lang="es-PE" sz="1800" dirty="0">
                <a:effectLst/>
                <a:latin typeface="Arial" panose="020B0604020202020204" pitchFamily="34" charset="0"/>
                <a:ea typeface="Arial" panose="020B0604020202020204" pitchFamily="34" charset="0"/>
              </a:rPr>
              <a:t>El impuesto predial se relaciona directa y significativamente con el presupuesto en la Municipalidad provincial de Tacna, 2022. </a:t>
            </a:r>
            <a:endParaRPr lang="es-PE" dirty="0"/>
          </a:p>
        </p:txBody>
      </p:sp>
      <p:sp>
        <p:nvSpPr>
          <p:cNvPr id="6" name="Título 1">
            <a:extLst>
              <a:ext uri="{FF2B5EF4-FFF2-40B4-BE49-F238E27FC236}">
                <a16:creationId xmlns:a16="http://schemas.microsoft.com/office/drawing/2014/main" id="{B4F8D584-8C75-4B74-D833-47021D5C242C}"/>
              </a:ext>
            </a:extLst>
          </p:cNvPr>
          <p:cNvSpPr txBox="1">
            <a:spLocks/>
          </p:cNvSpPr>
          <p:nvPr/>
        </p:nvSpPr>
        <p:spPr>
          <a:xfrm>
            <a:off x="1128156" y="2155970"/>
            <a:ext cx="4847110" cy="745836"/>
          </a:xfrm>
          <a:prstGeom prst="rect">
            <a:avLst/>
          </a:prstGeom>
          <a:effectLst/>
        </p:spPr>
        <p:txBody>
          <a:bodyPr vert="horz" lIns="91440" tIns="45720" rIns="91440" bIns="45720" rtlCol="0" anchor="ctr">
            <a:normAutofit fontScale="60000" lnSpcReduction="20000"/>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PE" b="1" dirty="0"/>
              <a:t>HIPOTESIS ESPECIFICOS</a:t>
            </a:r>
          </a:p>
        </p:txBody>
      </p:sp>
    </p:spTree>
    <p:extLst>
      <p:ext uri="{BB962C8B-B14F-4D97-AF65-F5344CB8AC3E}">
        <p14:creationId xmlns:p14="http://schemas.microsoft.com/office/powerpoint/2010/main" val="2889812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6FDBC3-6250-AFD2-9CD6-5FA8DE7ACDC6}"/>
              </a:ext>
            </a:extLst>
          </p:cNvPr>
          <p:cNvSpPr>
            <a:spLocks noGrp="1"/>
          </p:cNvSpPr>
          <p:nvPr>
            <p:ph type="title" idx="4294967295"/>
          </p:nvPr>
        </p:nvSpPr>
        <p:spPr>
          <a:xfrm>
            <a:off x="1306285" y="86127"/>
            <a:ext cx="9155113" cy="415368"/>
          </a:xfrm>
        </p:spPr>
        <p:txBody>
          <a:bodyPr>
            <a:normAutofit fontScale="90000"/>
          </a:bodyPr>
          <a:lstStyle/>
          <a:p>
            <a:r>
              <a:rPr lang="es-PE" b="1" dirty="0"/>
              <a:t>JUSTIFICACION</a:t>
            </a:r>
          </a:p>
        </p:txBody>
      </p:sp>
      <p:sp>
        <p:nvSpPr>
          <p:cNvPr id="4" name="CuadroTexto 3">
            <a:extLst>
              <a:ext uri="{FF2B5EF4-FFF2-40B4-BE49-F238E27FC236}">
                <a16:creationId xmlns:a16="http://schemas.microsoft.com/office/drawing/2014/main" id="{672FB3FC-6BD2-0DAA-B15F-C00DCC3ABBB0}"/>
              </a:ext>
            </a:extLst>
          </p:cNvPr>
          <p:cNvSpPr txBox="1"/>
          <p:nvPr/>
        </p:nvSpPr>
        <p:spPr>
          <a:xfrm>
            <a:off x="902522" y="711696"/>
            <a:ext cx="3978236" cy="384721"/>
          </a:xfrm>
          <a:prstGeom prst="rect">
            <a:avLst/>
          </a:prstGeom>
          <a:noFill/>
        </p:spPr>
        <p:txBody>
          <a:bodyPr wrap="square" rtlCol="0">
            <a:spAutoFit/>
          </a:bodyPr>
          <a:lstStyle/>
          <a:p>
            <a:r>
              <a:rPr lang="es-PE" sz="1900" b="1" dirty="0"/>
              <a:t>JUSTIFIACION TEORICA</a:t>
            </a:r>
          </a:p>
        </p:txBody>
      </p:sp>
      <p:sp>
        <p:nvSpPr>
          <p:cNvPr id="5" name="CuadroTexto 4">
            <a:extLst>
              <a:ext uri="{FF2B5EF4-FFF2-40B4-BE49-F238E27FC236}">
                <a16:creationId xmlns:a16="http://schemas.microsoft.com/office/drawing/2014/main" id="{3997C396-2893-A254-AD17-BA98591D5017}"/>
              </a:ext>
            </a:extLst>
          </p:cNvPr>
          <p:cNvSpPr txBox="1"/>
          <p:nvPr/>
        </p:nvSpPr>
        <p:spPr>
          <a:xfrm>
            <a:off x="902523" y="2278973"/>
            <a:ext cx="4108863" cy="384721"/>
          </a:xfrm>
          <a:prstGeom prst="rect">
            <a:avLst/>
          </a:prstGeom>
          <a:noFill/>
        </p:spPr>
        <p:txBody>
          <a:bodyPr wrap="square" rtlCol="0">
            <a:spAutoFit/>
          </a:bodyPr>
          <a:lstStyle/>
          <a:p>
            <a:r>
              <a:rPr lang="es-PE" sz="1900" b="1" dirty="0"/>
              <a:t>JUSTIFIACION PRACTICA</a:t>
            </a:r>
          </a:p>
        </p:txBody>
      </p:sp>
      <p:sp>
        <p:nvSpPr>
          <p:cNvPr id="6" name="CuadroTexto 5">
            <a:extLst>
              <a:ext uri="{FF2B5EF4-FFF2-40B4-BE49-F238E27FC236}">
                <a16:creationId xmlns:a16="http://schemas.microsoft.com/office/drawing/2014/main" id="{5C311A24-2865-513D-7F74-686D6CFF8337}"/>
              </a:ext>
            </a:extLst>
          </p:cNvPr>
          <p:cNvSpPr txBox="1"/>
          <p:nvPr/>
        </p:nvSpPr>
        <p:spPr>
          <a:xfrm>
            <a:off x="902523" y="4041683"/>
            <a:ext cx="4108863" cy="384721"/>
          </a:xfrm>
          <a:prstGeom prst="rect">
            <a:avLst/>
          </a:prstGeom>
          <a:noFill/>
        </p:spPr>
        <p:txBody>
          <a:bodyPr wrap="square" rtlCol="0">
            <a:spAutoFit/>
          </a:bodyPr>
          <a:lstStyle/>
          <a:p>
            <a:r>
              <a:rPr lang="es-PE" sz="1900" b="1" dirty="0"/>
              <a:t>JUSTIFIACION METODOLOGICA</a:t>
            </a:r>
          </a:p>
        </p:txBody>
      </p:sp>
      <p:sp>
        <p:nvSpPr>
          <p:cNvPr id="8" name="CuadroTexto 7">
            <a:extLst>
              <a:ext uri="{FF2B5EF4-FFF2-40B4-BE49-F238E27FC236}">
                <a16:creationId xmlns:a16="http://schemas.microsoft.com/office/drawing/2014/main" id="{2280165F-5B71-0E53-87CC-A973D1B7FFDD}"/>
              </a:ext>
            </a:extLst>
          </p:cNvPr>
          <p:cNvSpPr txBox="1"/>
          <p:nvPr/>
        </p:nvSpPr>
        <p:spPr>
          <a:xfrm>
            <a:off x="902524" y="1165806"/>
            <a:ext cx="10386952" cy="923330"/>
          </a:xfrm>
          <a:prstGeom prst="rect">
            <a:avLst/>
          </a:prstGeom>
          <a:noFill/>
        </p:spPr>
        <p:txBody>
          <a:bodyPr wrap="square">
            <a:spAutoFit/>
          </a:bodyPr>
          <a:lstStyle/>
          <a:p>
            <a:pPr algn="just"/>
            <a:r>
              <a:rPr lang="es-PE" dirty="0">
                <a:effectLst/>
                <a:latin typeface="Arial" panose="020B0604020202020204" pitchFamily="34" charset="0"/>
                <a:ea typeface="Arial" panose="020B0604020202020204" pitchFamily="34" charset="0"/>
              </a:rPr>
              <a:t>Proponer un nuevo procedimiento de análisis y gestión del impuesto predial en la municipalidad provincial de Tacna 2022, que integra técnicas contables avanzadas y herramientas tecnológicas para optimizar la recaudación fiscal.</a:t>
            </a:r>
            <a:endParaRPr lang="es-PE" dirty="0"/>
          </a:p>
        </p:txBody>
      </p:sp>
      <p:sp>
        <p:nvSpPr>
          <p:cNvPr id="10" name="CuadroTexto 9">
            <a:extLst>
              <a:ext uri="{FF2B5EF4-FFF2-40B4-BE49-F238E27FC236}">
                <a16:creationId xmlns:a16="http://schemas.microsoft.com/office/drawing/2014/main" id="{A3F34C3D-C8A2-61CA-DB30-AC3F08A561D9}"/>
              </a:ext>
            </a:extLst>
          </p:cNvPr>
          <p:cNvSpPr txBox="1"/>
          <p:nvPr/>
        </p:nvSpPr>
        <p:spPr>
          <a:xfrm>
            <a:off x="902525" y="2707477"/>
            <a:ext cx="10386951" cy="1200329"/>
          </a:xfrm>
          <a:prstGeom prst="rect">
            <a:avLst/>
          </a:prstGeom>
          <a:noFill/>
        </p:spPr>
        <p:txBody>
          <a:bodyPr wrap="square">
            <a:spAutoFit/>
          </a:bodyPr>
          <a:lstStyle/>
          <a:p>
            <a:pPr algn="just"/>
            <a:r>
              <a:rPr lang="es-PE" dirty="0">
                <a:effectLst/>
                <a:latin typeface="Arial" panose="020B0604020202020204" pitchFamily="34" charset="0"/>
                <a:ea typeface="Arial" panose="020B0604020202020204" pitchFamily="34" charset="0"/>
              </a:rPr>
              <a:t>Fue fundamenta bajo la carencia de estudios que analicen conjuntamente el impacto del impuesto predial en el presupuesto municipal a pesar de la abundante literatura que aborda cada elemento por separado, Si bien existen trabajos que investiguen el efecto del impuesto predial en la recaudación y la importancia del presupuesto en la administración pública.</a:t>
            </a:r>
            <a:endParaRPr lang="es-PE" dirty="0"/>
          </a:p>
        </p:txBody>
      </p:sp>
      <p:sp>
        <p:nvSpPr>
          <p:cNvPr id="12" name="CuadroTexto 11">
            <a:extLst>
              <a:ext uri="{FF2B5EF4-FFF2-40B4-BE49-F238E27FC236}">
                <a16:creationId xmlns:a16="http://schemas.microsoft.com/office/drawing/2014/main" id="{90E18DBD-8BE0-99D4-EF14-8D6FCF1DADFB}"/>
              </a:ext>
            </a:extLst>
          </p:cNvPr>
          <p:cNvSpPr txBox="1"/>
          <p:nvPr/>
        </p:nvSpPr>
        <p:spPr>
          <a:xfrm>
            <a:off x="902522" y="4560281"/>
            <a:ext cx="10564091" cy="1477328"/>
          </a:xfrm>
          <a:prstGeom prst="rect">
            <a:avLst/>
          </a:prstGeom>
          <a:noFill/>
        </p:spPr>
        <p:txBody>
          <a:bodyPr wrap="square">
            <a:spAutoFit/>
          </a:bodyPr>
          <a:lstStyle/>
          <a:p>
            <a:pPr algn="just"/>
            <a:r>
              <a:rPr lang="es-PE" dirty="0">
                <a:effectLst/>
                <a:latin typeface="Arial" panose="020B0604020202020204" pitchFamily="34" charset="0"/>
                <a:ea typeface="Arial" panose="020B0604020202020204" pitchFamily="34" charset="0"/>
              </a:rPr>
              <a:t>El estudio se sustentó metodológicamente en un enfoque cuantitativo para examinar la correlación entre el impuesto predial y el presupuesto, empleando una encuesta estructurada a una muestra representativa de empleados y contribuyentes garantizando la recolección sistemática y objetiva de datos, así como la validez y confiabilidad de los resultados</a:t>
            </a:r>
            <a:r>
              <a:rPr lang="es-PE" dirty="0">
                <a:latin typeface="Arial" panose="020B0604020202020204" pitchFamily="34" charset="0"/>
                <a:ea typeface="Arial" panose="020B0604020202020204" pitchFamily="34" charset="0"/>
              </a:rPr>
              <a:t> y </a:t>
            </a:r>
            <a:r>
              <a:rPr lang="es-PE" dirty="0">
                <a:effectLst/>
                <a:latin typeface="Arial" panose="020B0604020202020204" pitchFamily="34" charset="0"/>
                <a:ea typeface="Arial" panose="020B0604020202020204" pitchFamily="34" charset="0"/>
              </a:rPr>
              <a:t> el análisis para realizar la parte estadística se uso Excel y SPSS. </a:t>
            </a:r>
            <a:endParaRPr lang="es-PE" dirty="0"/>
          </a:p>
        </p:txBody>
      </p:sp>
    </p:spTree>
    <p:extLst>
      <p:ext uri="{BB962C8B-B14F-4D97-AF65-F5344CB8AC3E}">
        <p14:creationId xmlns:p14="http://schemas.microsoft.com/office/powerpoint/2010/main" val="2639898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626B89-6ED9-B0E4-5D93-C90169090FA2}"/>
              </a:ext>
            </a:extLst>
          </p:cNvPr>
          <p:cNvSpPr>
            <a:spLocks noGrp="1"/>
          </p:cNvSpPr>
          <p:nvPr>
            <p:ph type="title" idx="4294967295"/>
          </p:nvPr>
        </p:nvSpPr>
        <p:spPr>
          <a:xfrm>
            <a:off x="724394" y="0"/>
            <a:ext cx="9601200" cy="549275"/>
          </a:xfrm>
        </p:spPr>
        <p:txBody>
          <a:bodyPr>
            <a:normAutofit fontScale="90000"/>
          </a:bodyPr>
          <a:lstStyle/>
          <a:p>
            <a:r>
              <a:rPr lang="es-PE" dirty="0"/>
              <a:t>METODOLOGÍA </a:t>
            </a:r>
          </a:p>
        </p:txBody>
      </p:sp>
      <p:sp>
        <p:nvSpPr>
          <p:cNvPr id="4" name="CuadroTexto 3">
            <a:extLst>
              <a:ext uri="{FF2B5EF4-FFF2-40B4-BE49-F238E27FC236}">
                <a16:creationId xmlns:a16="http://schemas.microsoft.com/office/drawing/2014/main" id="{5892278D-583D-1C71-9044-9C082D47FF54}"/>
              </a:ext>
            </a:extLst>
          </p:cNvPr>
          <p:cNvSpPr txBox="1"/>
          <p:nvPr/>
        </p:nvSpPr>
        <p:spPr>
          <a:xfrm>
            <a:off x="819397" y="771895"/>
            <a:ext cx="3408219" cy="369332"/>
          </a:xfrm>
          <a:prstGeom prst="rect">
            <a:avLst/>
          </a:prstGeom>
          <a:noFill/>
        </p:spPr>
        <p:txBody>
          <a:bodyPr wrap="square" rtlCol="0">
            <a:spAutoFit/>
          </a:bodyPr>
          <a:lstStyle/>
          <a:p>
            <a:r>
              <a:rPr lang="es-PE" b="1" dirty="0"/>
              <a:t>TIPO DE INVESTIGACIÓN : </a:t>
            </a:r>
          </a:p>
        </p:txBody>
      </p:sp>
      <p:sp>
        <p:nvSpPr>
          <p:cNvPr id="5" name="CuadroTexto 4">
            <a:extLst>
              <a:ext uri="{FF2B5EF4-FFF2-40B4-BE49-F238E27FC236}">
                <a16:creationId xmlns:a16="http://schemas.microsoft.com/office/drawing/2014/main" id="{B656D57D-6FB3-4E10-BCE1-3811D5DEE4F6}"/>
              </a:ext>
            </a:extLst>
          </p:cNvPr>
          <p:cNvSpPr txBox="1"/>
          <p:nvPr/>
        </p:nvSpPr>
        <p:spPr>
          <a:xfrm>
            <a:off x="4667003" y="724393"/>
            <a:ext cx="5189517" cy="369332"/>
          </a:xfrm>
          <a:prstGeom prst="rect">
            <a:avLst/>
          </a:prstGeom>
          <a:noFill/>
        </p:spPr>
        <p:txBody>
          <a:bodyPr wrap="square" rtlCol="0">
            <a:spAutoFit/>
          </a:bodyPr>
          <a:lstStyle/>
          <a:p>
            <a:r>
              <a:rPr lang="es-PE" dirty="0"/>
              <a:t>La investigación fue aplicada</a:t>
            </a:r>
          </a:p>
        </p:txBody>
      </p:sp>
      <p:sp>
        <p:nvSpPr>
          <p:cNvPr id="6" name="CuadroTexto 5">
            <a:extLst>
              <a:ext uri="{FF2B5EF4-FFF2-40B4-BE49-F238E27FC236}">
                <a16:creationId xmlns:a16="http://schemas.microsoft.com/office/drawing/2014/main" id="{DCD8D16F-E0F4-F8A8-5D58-944384A80BDB}"/>
              </a:ext>
            </a:extLst>
          </p:cNvPr>
          <p:cNvSpPr txBox="1"/>
          <p:nvPr/>
        </p:nvSpPr>
        <p:spPr>
          <a:xfrm>
            <a:off x="819397" y="1363847"/>
            <a:ext cx="3598224" cy="369332"/>
          </a:xfrm>
          <a:prstGeom prst="rect">
            <a:avLst/>
          </a:prstGeom>
          <a:noFill/>
        </p:spPr>
        <p:txBody>
          <a:bodyPr wrap="square" rtlCol="0">
            <a:spAutoFit/>
          </a:bodyPr>
          <a:lstStyle/>
          <a:p>
            <a:r>
              <a:rPr lang="es-PE" b="1" dirty="0"/>
              <a:t>DISEÑO DE INVESTIGACIÓN : </a:t>
            </a:r>
          </a:p>
        </p:txBody>
      </p:sp>
      <p:sp>
        <p:nvSpPr>
          <p:cNvPr id="7" name="CuadroTexto 6">
            <a:extLst>
              <a:ext uri="{FF2B5EF4-FFF2-40B4-BE49-F238E27FC236}">
                <a16:creationId xmlns:a16="http://schemas.microsoft.com/office/drawing/2014/main" id="{434FB17D-55F8-371B-5D5C-249936A76A34}"/>
              </a:ext>
            </a:extLst>
          </p:cNvPr>
          <p:cNvSpPr txBox="1"/>
          <p:nvPr/>
        </p:nvSpPr>
        <p:spPr>
          <a:xfrm>
            <a:off x="4667002" y="1363847"/>
            <a:ext cx="5189517" cy="369332"/>
          </a:xfrm>
          <a:prstGeom prst="rect">
            <a:avLst/>
          </a:prstGeom>
          <a:noFill/>
        </p:spPr>
        <p:txBody>
          <a:bodyPr wrap="square" rtlCol="0">
            <a:spAutoFit/>
          </a:bodyPr>
          <a:lstStyle/>
          <a:p>
            <a:r>
              <a:rPr lang="es-PE" dirty="0"/>
              <a:t>Fue no experimental no transversal correlacional </a:t>
            </a:r>
          </a:p>
        </p:txBody>
      </p:sp>
      <p:sp>
        <p:nvSpPr>
          <p:cNvPr id="8" name="CuadroTexto 7">
            <a:extLst>
              <a:ext uri="{FF2B5EF4-FFF2-40B4-BE49-F238E27FC236}">
                <a16:creationId xmlns:a16="http://schemas.microsoft.com/office/drawing/2014/main" id="{8EC2B100-278D-5DF8-FFA7-2BE613558FBE}"/>
              </a:ext>
            </a:extLst>
          </p:cNvPr>
          <p:cNvSpPr txBox="1"/>
          <p:nvPr/>
        </p:nvSpPr>
        <p:spPr>
          <a:xfrm>
            <a:off x="819397" y="2050637"/>
            <a:ext cx="3598224" cy="646331"/>
          </a:xfrm>
          <a:prstGeom prst="rect">
            <a:avLst/>
          </a:prstGeom>
          <a:noFill/>
        </p:spPr>
        <p:txBody>
          <a:bodyPr wrap="square" rtlCol="0">
            <a:spAutoFit/>
          </a:bodyPr>
          <a:lstStyle/>
          <a:p>
            <a:r>
              <a:rPr lang="es-PE" b="1" dirty="0"/>
              <a:t>NIVEL O ALCANCE DE INVESTIGACIÓN : </a:t>
            </a:r>
          </a:p>
        </p:txBody>
      </p:sp>
      <p:sp>
        <p:nvSpPr>
          <p:cNvPr id="9" name="CuadroTexto 8">
            <a:extLst>
              <a:ext uri="{FF2B5EF4-FFF2-40B4-BE49-F238E27FC236}">
                <a16:creationId xmlns:a16="http://schemas.microsoft.com/office/drawing/2014/main" id="{A1C938FE-896E-DEE0-C332-484A80D26136}"/>
              </a:ext>
            </a:extLst>
          </p:cNvPr>
          <p:cNvSpPr txBox="1"/>
          <p:nvPr/>
        </p:nvSpPr>
        <p:spPr>
          <a:xfrm>
            <a:off x="4667001" y="2050637"/>
            <a:ext cx="5189517" cy="369332"/>
          </a:xfrm>
          <a:prstGeom prst="rect">
            <a:avLst/>
          </a:prstGeom>
          <a:noFill/>
        </p:spPr>
        <p:txBody>
          <a:bodyPr wrap="square" rtlCol="0">
            <a:spAutoFit/>
          </a:bodyPr>
          <a:lstStyle/>
          <a:p>
            <a:r>
              <a:rPr lang="es-PE" dirty="0"/>
              <a:t>Fue descriptivo – correlacional  </a:t>
            </a:r>
          </a:p>
        </p:txBody>
      </p:sp>
    </p:spTree>
    <p:extLst>
      <p:ext uri="{BB962C8B-B14F-4D97-AF65-F5344CB8AC3E}">
        <p14:creationId xmlns:p14="http://schemas.microsoft.com/office/powerpoint/2010/main" val="1063344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3D5B27-CB93-5206-8EF1-57FC17AE2E20}"/>
              </a:ext>
            </a:extLst>
          </p:cNvPr>
          <p:cNvSpPr>
            <a:spLocks noGrp="1"/>
          </p:cNvSpPr>
          <p:nvPr>
            <p:ph type="title" idx="4294967295"/>
          </p:nvPr>
        </p:nvSpPr>
        <p:spPr>
          <a:xfrm>
            <a:off x="0" y="115888"/>
            <a:ext cx="9601200" cy="371475"/>
          </a:xfrm>
        </p:spPr>
        <p:txBody>
          <a:bodyPr>
            <a:normAutofit fontScale="90000"/>
          </a:bodyPr>
          <a:lstStyle/>
          <a:p>
            <a:r>
              <a:rPr lang="es-PE" dirty="0"/>
              <a:t>RESULTADOS</a:t>
            </a:r>
          </a:p>
        </p:txBody>
      </p:sp>
      <p:pic>
        <p:nvPicPr>
          <p:cNvPr id="4" name="Imagen 3">
            <a:extLst>
              <a:ext uri="{FF2B5EF4-FFF2-40B4-BE49-F238E27FC236}">
                <a16:creationId xmlns:a16="http://schemas.microsoft.com/office/drawing/2014/main" id="{48B83E77-9FE3-EC34-346A-DFEBF5A0F1F9}"/>
              </a:ext>
            </a:extLst>
          </p:cNvPr>
          <p:cNvPicPr>
            <a:picLocks noChangeAspect="1"/>
          </p:cNvPicPr>
          <p:nvPr/>
        </p:nvPicPr>
        <p:blipFill rotWithShape="1">
          <a:blip r:embed="rId2">
            <a:extLst>
              <a:ext uri="{28A0092B-C50C-407E-A947-70E740481C1C}">
                <a14:useLocalDpi xmlns:a14="http://schemas.microsoft.com/office/drawing/2010/main" val="0"/>
              </a:ext>
            </a:extLst>
          </a:blip>
          <a:srcRect t="8549" b="7674"/>
          <a:stretch/>
        </p:blipFill>
        <p:spPr bwMode="auto">
          <a:xfrm>
            <a:off x="708560" y="2029736"/>
            <a:ext cx="5197435" cy="2798527"/>
          </a:xfrm>
          <a:prstGeom prst="rect">
            <a:avLst/>
          </a:prstGeom>
          <a:noFill/>
          <a:ln>
            <a:noFill/>
          </a:ln>
          <a:extLst>
            <a:ext uri="{53640926-AAD7-44D8-BBD7-CCE9431645EC}">
              <a14:shadowObscured xmlns:a14="http://schemas.microsoft.com/office/drawing/2010/main"/>
            </a:ext>
          </a:extLst>
        </p:spPr>
      </p:pic>
      <p:pic>
        <p:nvPicPr>
          <p:cNvPr id="7" name="Imagen 6">
            <a:extLst>
              <a:ext uri="{FF2B5EF4-FFF2-40B4-BE49-F238E27FC236}">
                <a16:creationId xmlns:a16="http://schemas.microsoft.com/office/drawing/2014/main" id="{41D0BDDB-6403-1BB2-1138-E3A9685667B5}"/>
              </a:ext>
            </a:extLst>
          </p:cNvPr>
          <p:cNvPicPr>
            <a:picLocks noChangeAspect="1"/>
          </p:cNvPicPr>
          <p:nvPr/>
        </p:nvPicPr>
        <p:blipFill rotWithShape="1">
          <a:blip r:embed="rId3">
            <a:extLst>
              <a:ext uri="{28A0092B-C50C-407E-A947-70E740481C1C}">
                <a14:useLocalDpi xmlns:a14="http://schemas.microsoft.com/office/drawing/2010/main" val="0"/>
              </a:ext>
            </a:extLst>
          </a:blip>
          <a:srcRect b="19796"/>
          <a:stretch/>
        </p:blipFill>
        <p:spPr>
          <a:xfrm>
            <a:off x="6286006" y="2160365"/>
            <a:ext cx="4971803" cy="2798527"/>
          </a:xfrm>
          <a:prstGeom prst="rect">
            <a:avLst/>
          </a:prstGeom>
        </p:spPr>
      </p:pic>
      <p:sp>
        <p:nvSpPr>
          <p:cNvPr id="8" name="CuadroTexto 7">
            <a:extLst>
              <a:ext uri="{FF2B5EF4-FFF2-40B4-BE49-F238E27FC236}">
                <a16:creationId xmlns:a16="http://schemas.microsoft.com/office/drawing/2014/main" id="{058E2750-9597-24A9-B884-E436742E30AF}"/>
              </a:ext>
            </a:extLst>
          </p:cNvPr>
          <p:cNvSpPr txBox="1"/>
          <p:nvPr/>
        </p:nvSpPr>
        <p:spPr>
          <a:xfrm>
            <a:off x="1129148" y="969921"/>
            <a:ext cx="10508672" cy="707886"/>
          </a:xfrm>
          <a:prstGeom prst="rect">
            <a:avLst/>
          </a:prstGeom>
          <a:noFill/>
        </p:spPr>
        <p:txBody>
          <a:bodyPr wrap="square">
            <a:spAutoFit/>
          </a:bodyPr>
          <a:lstStyle/>
          <a:p>
            <a:pPr>
              <a:spcAft>
                <a:spcPts val="1000"/>
              </a:spcAft>
            </a:pPr>
            <a:r>
              <a:rPr lang="es-PE" sz="2000" b="1" i="1" dirty="0">
                <a:effectLst/>
                <a:latin typeface="Arial" panose="020B0604020202020204" pitchFamily="34" charset="0"/>
                <a:ea typeface="Arial" panose="020B0604020202020204" pitchFamily="34" charset="0"/>
              </a:rPr>
              <a:t>NIVELES DE APRECIACIÓN DE LA VALORACIÓN DE LA VARIABLE IMPUESTO PREDIAL</a:t>
            </a:r>
          </a:p>
        </p:txBody>
      </p:sp>
    </p:spTree>
    <p:extLst>
      <p:ext uri="{BB962C8B-B14F-4D97-AF65-F5344CB8AC3E}">
        <p14:creationId xmlns:p14="http://schemas.microsoft.com/office/powerpoint/2010/main" val="2179360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11FEF0A-4245-076F-1017-380E9F55E3F2}"/>
              </a:ext>
            </a:extLst>
          </p:cNvPr>
          <p:cNvPicPr>
            <a:picLocks noChangeAspect="1"/>
          </p:cNvPicPr>
          <p:nvPr/>
        </p:nvPicPr>
        <p:blipFill rotWithShape="1">
          <a:blip r:embed="rId2">
            <a:extLst>
              <a:ext uri="{28A0092B-C50C-407E-A947-70E740481C1C}">
                <a14:useLocalDpi xmlns:a14="http://schemas.microsoft.com/office/drawing/2010/main" val="0"/>
              </a:ext>
            </a:extLst>
          </a:blip>
          <a:srcRect t="10258" b="8529"/>
          <a:stretch/>
        </p:blipFill>
        <p:spPr bwMode="auto">
          <a:xfrm>
            <a:off x="890939" y="2442114"/>
            <a:ext cx="5087632" cy="2749988"/>
          </a:xfrm>
          <a:prstGeom prst="rect">
            <a:avLst/>
          </a:prstGeom>
          <a:noFill/>
          <a:ln>
            <a:noFill/>
          </a:ln>
          <a:extLst>
            <a:ext uri="{53640926-AAD7-44D8-BBD7-CCE9431645EC}">
              <a14:shadowObscured xmlns:a14="http://schemas.microsoft.com/office/drawing/2010/main"/>
            </a:ext>
          </a:extLst>
        </p:spPr>
      </p:pic>
      <p:pic>
        <p:nvPicPr>
          <p:cNvPr id="5" name="Imagen 4">
            <a:extLst>
              <a:ext uri="{FF2B5EF4-FFF2-40B4-BE49-F238E27FC236}">
                <a16:creationId xmlns:a16="http://schemas.microsoft.com/office/drawing/2014/main" id="{419C8764-7220-C2CA-53B7-7912E0E27EF6}"/>
              </a:ext>
            </a:extLst>
          </p:cNvPr>
          <p:cNvPicPr>
            <a:picLocks noChangeAspect="1"/>
          </p:cNvPicPr>
          <p:nvPr/>
        </p:nvPicPr>
        <p:blipFill rotWithShape="1">
          <a:blip r:embed="rId3">
            <a:extLst>
              <a:ext uri="{28A0092B-C50C-407E-A947-70E740481C1C}">
                <a14:useLocalDpi xmlns:a14="http://schemas.microsoft.com/office/drawing/2010/main" val="0"/>
              </a:ext>
            </a:extLst>
          </a:blip>
          <a:srcRect b="16130"/>
          <a:stretch/>
        </p:blipFill>
        <p:spPr>
          <a:xfrm>
            <a:off x="6290911" y="2347111"/>
            <a:ext cx="5010150" cy="2844991"/>
          </a:xfrm>
          <a:prstGeom prst="rect">
            <a:avLst/>
          </a:prstGeom>
        </p:spPr>
      </p:pic>
      <p:sp>
        <p:nvSpPr>
          <p:cNvPr id="9" name="CuadroTexto 8">
            <a:extLst>
              <a:ext uri="{FF2B5EF4-FFF2-40B4-BE49-F238E27FC236}">
                <a16:creationId xmlns:a16="http://schemas.microsoft.com/office/drawing/2014/main" id="{84F9DADF-C7E1-866E-D322-781EECA1D5DA}"/>
              </a:ext>
            </a:extLst>
          </p:cNvPr>
          <p:cNvSpPr txBox="1"/>
          <p:nvPr/>
        </p:nvSpPr>
        <p:spPr>
          <a:xfrm>
            <a:off x="1047109" y="1132284"/>
            <a:ext cx="10097782" cy="707886"/>
          </a:xfrm>
          <a:prstGeom prst="rect">
            <a:avLst/>
          </a:prstGeom>
          <a:noFill/>
        </p:spPr>
        <p:txBody>
          <a:bodyPr wrap="square">
            <a:spAutoFit/>
          </a:bodyPr>
          <a:lstStyle/>
          <a:p>
            <a:r>
              <a:rPr lang="es-PE" sz="2000" b="1" i="1" dirty="0">
                <a:effectLst/>
                <a:latin typeface="Arial" panose="020B0604020202020204" pitchFamily="34" charset="0"/>
                <a:ea typeface="Arial" panose="020B0604020202020204" pitchFamily="34" charset="0"/>
              </a:rPr>
              <a:t>NIVELES DE APRECIACIÓN VALORATIVA DE LA DIMENSIÓN CUMPLIMIENTO TRIBUTARIO</a:t>
            </a:r>
            <a:endParaRPr lang="es-PE" sz="2000" b="1" i="1" dirty="0"/>
          </a:p>
        </p:txBody>
      </p:sp>
    </p:spTree>
    <p:extLst>
      <p:ext uri="{BB962C8B-B14F-4D97-AF65-F5344CB8AC3E}">
        <p14:creationId xmlns:p14="http://schemas.microsoft.com/office/powerpoint/2010/main" val="3915775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96754C87-C34D-150A-E9E6-354F9FFF95AC}"/>
              </a:ext>
            </a:extLst>
          </p:cNvPr>
          <p:cNvSpPr txBox="1"/>
          <p:nvPr/>
        </p:nvSpPr>
        <p:spPr>
          <a:xfrm>
            <a:off x="1003465" y="1115188"/>
            <a:ext cx="10375076" cy="400110"/>
          </a:xfrm>
          <a:prstGeom prst="rect">
            <a:avLst/>
          </a:prstGeom>
          <a:noFill/>
        </p:spPr>
        <p:txBody>
          <a:bodyPr wrap="square">
            <a:spAutoFit/>
          </a:bodyPr>
          <a:lstStyle/>
          <a:p>
            <a:r>
              <a:rPr lang="es-PE" sz="2000" b="1" i="1" dirty="0">
                <a:effectLst/>
                <a:latin typeface="Arial" panose="020B0604020202020204" pitchFamily="34" charset="0"/>
                <a:ea typeface="Arial" panose="020B0604020202020204" pitchFamily="34" charset="0"/>
              </a:rPr>
              <a:t> NIVELES DE APRECIACIÓN VALORATIVA DE LA DIMENSIÓN CONTRIBUYENTE</a:t>
            </a:r>
            <a:r>
              <a:rPr lang="es-PE" sz="1900" b="1" i="1" dirty="0">
                <a:effectLst/>
                <a:latin typeface="Arial" panose="020B0604020202020204" pitchFamily="34" charset="0"/>
                <a:ea typeface="Arial" panose="020B0604020202020204" pitchFamily="34" charset="0"/>
              </a:rPr>
              <a:t>.</a:t>
            </a:r>
            <a:endParaRPr lang="es-PE" sz="1900" b="1" i="1" dirty="0"/>
          </a:p>
        </p:txBody>
      </p:sp>
      <p:pic>
        <p:nvPicPr>
          <p:cNvPr id="6" name="Imagen 5">
            <a:extLst>
              <a:ext uri="{FF2B5EF4-FFF2-40B4-BE49-F238E27FC236}">
                <a16:creationId xmlns:a16="http://schemas.microsoft.com/office/drawing/2014/main" id="{9C6DF92F-8F6F-D4A7-9250-33B1E5EA8A02}"/>
              </a:ext>
            </a:extLst>
          </p:cNvPr>
          <p:cNvPicPr>
            <a:picLocks noChangeAspect="1"/>
          </p:cNvPicPr>
          <p:nvPr/>
        </p:nvPicPr>
        <p:blipFill rotWithShape="1">
          <a:blip r:embed="rId2">
            <a:extLst>
              <a:ext uri="{28A0092B-C50C-407E-A947-70E740481C1C}">
                <a14:useLocalDpi xmlns:a14="http://schemas.microsoft.com/office/drawing/2010/main" val="0"/>
              </a:ext>
            </a:extLst>
          </a:blip>
          <a:srcRect t="7979" b="6820"/>
          <a:stretch/>
        </p:blipFill>
        <p:spPr bwMode="auto">
          <a:xfrm>
            <a:off x="813459" y="1995056"/>
            <a:ext cx="4934198" cy="2894990"/>
          </a:xfrm>
          <a:prstGeom prst="rect">
            <a:avLst/>
          </a:prstGeom>
          <a:noFill/>
          <a:ln>
            <a:noFill/>
          </a:ln>
          <a:extLst>
            <a:ext uri="{53640926-AAD7-44D8-BBD7-CCE9431645EC}">
              <a14:shadowObscured xmlns:a14="http://schemas.microsoft.com/office/drawing/2010/main"/>
            </a:ext>
          </a:extLst>
        </p:spPr>
      </p:pic>
      <p:pic>
        <p:nvPicPr>
          <p:cNvPr id="7" name="Imagen 6">
            <a:extLst>
              <a:ext uri="{FF2B5EF4-FFF2-40B4-BE49-F238E27FC236}">
                <a16:creationId xmlns:a16="http://schemas.microsoft.com/office/drawing/2014/main" id="{7D8E6050-ADF5-9652-9436-0F5946C2EFE1}"/>
              </a:ext>
            </a:extLst>
          </p:cNvPr>
          <p:cNvPicPr>
            <a:picLocks noChangeAspect="1"/>
          </p:cNvPicPr>
          <p:nvPr/>
        </p:nvPicPr>
        <p:blipFill rotWithShape="1">
          <a:blip r:embed="rId3"/>
          <a:srcRect b="16694"/>
          <a:stretch/>
        </p:blipFill>
        <p:spPr>
          <a:xfrm>
            <a:off x="5747657" y="2238245"/>
            <a:ext cx="5522344" cy="2651801"/>
          </a:xfrm>
          <a:prstGeom prst="rect">
            <a:avLst/>
          </a:prstGeom>
        </p:spPr>
      </p:pic>
    </p:spTree>
    <p:extLst>
      <p:ext uri="{BB962C8B-B14F-4D97-AF65-F5344CB8AC3E}">
        <p14:creationId xmlns:p14="http://schemas.microsoft.com/office/powerpoint/2010/main" val="296957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E0F31C7C-8F42-EEDD-5700-DEEEBEC769CF}"/>
              </a:ext>
            </a:extLst>
          </p:cNvPr>
          <p:cNvPicPr>
            <a:picLocks noChangeAspect="1"/>
          </p:cNvPicPr>
          <p:nvPr/>
        </p:nvPicPr>
        <p:blipFill rotWithShape="1">
          <a:blip r:embed="rId2">
            <a:extLst>
              <a:ext uri="{28A0092B-C50C-407E-A947-70E740481C1C}">
                <a14:useLocalDpi xmlns:a14="http://schemas.microsoft.com/office/drawing/2010/main" val="0"/>
              </a:ext>
            </a:extLst>
          </a:blip>
          <a:srcRect t="7694" b="7959"/>
          <a:stretch/>
        </p:blipFill>
        <p:spPr bwMode="auto">
          <a:xfrm>
            <a:off x="884708" y="2263980"/>
            <a:ext cx="5097487" cy="2999917"/>
          </a:xfrm>
          <a:prstGeom prst="rect">
            <a:avLst/>
          </a:prstGeom>
          <a:noFill/>
          <a:ln>
            <a:noFill/>
          </a:ln>
          <a:extLst>
            <a:ext uri="{53640926-AAD7-44D8-BBD7-CCE9431645EC}">
              <a14:shadowObscured xmlns:a14="http://schemas.microsoft.com/office/drawing/2010/main"/>
            </a:ext>
          </a:extLst>
        </p:spPr>
      </p:pic>
      <p:pic>
        <p:nvPicPr>
          <p:cNvPr id="3" name="Imagen 2">
            <a:extLst>
              <a:ext uri="{FF2B5EF4-FFF2-40B4-BE49-F238E27FC236}">
                <a16:creationId xmlns:a16="http://schemas.microsoft.com/office/drawing/2014/main" id="{A667F1D8-0BFD-77A3-E2CA-28C16D749D9C}"/>
              </a:ext>
            </a:extLst>
          </p:cNvPr>
          <p:cNvPicPr>
            <a:picLocks noChangeAspect="1"/>
          </p:cNvPicPr>
          <p:nvPr/>
        </p:nvPicPr>
        <p:blipFill rotWithShape="1">
          <a:blip r:embed="rId3">
            <a:extLst>
              <a:ext uri="{28A0092B-C50C-407E-A947-70E740481C1C}">
                <a14:useLocalDpi xmlns:a14="http://schemas.microsoft.com/office/drawing/2010/main" val="0"/>
              </a:ext>
            </a:extLst>
          </a:blip>
          <a:srcRect b="21524"/>
          <a:stretch/>
        </p:blipFill>
        <p:spPr>
          <a:xfrm>
            <a:off x="6209807" y="2303136"/>
            <a:ext cx="4953000" cy="2737852"/>
          </a:xfrm>
          <a:prstGeom prst="rect">
            <a:avLst/>
          </a:prstGeom>
        </p:spPr>
      </p:pic>
      <p:sp>
        <p:nvSpPr>
          <p:cNvPr id="8" name="CuadroTexto 7">
            <a:extLst>
              <a:ext uri="{FF2B5EF4-FFF2-40B4-BE49-F238E27FC236}">
                <a16:creationId xmlns:a16="http://schemas.microsoft.com/office/drawing/2014/main" id="{92F55720-4DF2-D045-12EF-823710FD18DC}"/>
              </a:ext>
            </a:extLst>
          </p:cNvPr>
          <p:cNvSpPr txBox="1"/>
          <p:nvPr/>
        </p:nvSpPr>
        <p:spPr>
          <a:xfrm>
            <a:off x="1003466" y="1109127"/>
            <a:ext cx="9957459" cy="707886"/>
          </a:xfrm>
          <a:prstGeom prst="rect">
            <a:avLst/>
          </a:prstGeom>
          <a:noFill/>
        </p:spPr>
        <p:txBody>
          <a:bodyPr wrap="square">
            <a:spAutoFit/>
          </a:bodyPr>
          <a:lstStyle/>
          <a:p>
            <a:r>
              <a:rPr lang="es-PE" sz="2000" b="1" i="1" dirty="0">
                <a:effectLst/>
                <a:latin typeface="Arial" panose="020B0604020202020204" pitchFamily="34" charset="0"/>
                <a:ea typeface="Arial" panose="020B0604020202020204" pitchFamily="34" charset="0"/>
              </a:rPr>
              <a:t>NIVELES DE APRECIACIÓN VALORATIVA DE LA DIMENSIÓN VALORACIÓN DE BIENES </a:t>
            </a:r>
            <a:endParaRPr lang="es-PE" sz="2000" b="1" i="1" dirty="0"/>
          </a:p>
        </p:txBody>
      </p:sp>
    </p:spTree>
    <p:extLst>
      <p:ext uri="{BB962C8B-B14F-4D97-AF65-F5344CB8AC3E}">
        <p14:creationId xmlns:p14="http://schemas.microsoft.com/office/powerpoint/2010/main" val="3879596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2F55720-4DF2-D045-12EF-823710FD18DC}"/>
              </a:ext>
            </a:extLst>
          </p:cNvPr>
          <p:cNvSpPr txBox="1"/>
          <p:nvPr/>
        </p:nvSpPr>
        <p:spPr>
          <a:xfrm>
            <a:off x="980596" y="1135055"/>
            <a:ext cx="9957459" cy="707886"/>
          </a:xfrm>
          <a:prstGeom prst="rect">
            <a:avLst/>
          </a:prstGeom>
          <a:noFill/>
        </p:spPr>
        <p:txBody>
          <a:bodyPr wrap="square">
            <a:spAutoFit/>
          </a:bodyPr>
          <a:lstStyle/>
          <a:p>
            <a:r>
              <a:rPr lang="es-PE" sz="2000" b="1" i="1" dirty="0">
                <a:effectLst/>
                <a:latin typeface="Arial" panose="020B0604020202020204" pitchFamily="34" charset="0"/>
                <a:ea typeface="Arial" panose="020B0604020202020204" pitchFamily="34" charset="0"/>
              </a:rPr>
              <a:t>NIVELES DE APRECIACIÓN VALORATIVA DE LA DIMENSIÓN DETERMINACIÓN TRIBUTARIA</a:t>
            </a:r>
            <a:endParaRPr lang="es-PE" sz="2000" b="1" i="1" dirty="0"/>
          </a:p>
        </p:txBody>
      </p:sp>
      <p:pic>
        <p:nvPicPr>
          <p:cNvPr id="4" name="Imagen 3">
            <a:extLst>
              <a:ext uri="{FF2B5EF4-FFF2-40B4-BE49-F238E27FC236}">
                <a16:creationId xmlns:a16="http://schemas.microsoft.com/office/drawing/2014/main" id="{CAFC07B9-6696-20F0-1D99-58D82F0DD02A}"/>
              </a:ext>
            </a:extLst>
          </p:cNvPr>
          <p:cNvPicPr>
            <a:picLocks noChangeAspect="1"/>
          </p:cNvPicPr>
          <p:nvPr/>
        </p:nvPicPr>
        <p:blipFill rotWithShape="1">
          <a:blip r:embed="rId2">
            <a:extLst>
              <a:ext uri="{28A0092B-C50C-407E-A947-70E740481C1C}">
                <a14:useLocalDpi xmlns:a14="http://schemas.microsoft.com/office/drawing/2010/main" val="0"/>
              </a:ext>
            </a:extLst>
          </a:blip>
          <a:srcRect t="8264" b="7390"/>
          <a:stretch/>
        </p:blipFill>
        <p:spPr bwMode="auto">
          <a:xfrm>
            <a:off x="819397" y="2268186"/>
            <a:ext cx="5362682" cy="3100815"/>
          </a:xfrm>
          <a:prstGeom prst="rect">
            <a:avLst/>
          </a:prstGeom>
          <a:noFill/>
          <a:ln>
            <a:noFill/>
          </a:ln>
          <a:extLst>
            <a:ext uri="{53640926-AAD7-44D8-BBD7-CCE9431645EC}">
              <a14:shadowObscured xmlns:a14="http://schemas.microsoft.com/office/drawing/2010/main"/>
            </a:ext>
          </a:extLst>
        </p:spPr>
      </p:pic>
      <p:pic>
        <p:nvPicPr>
          <p:cNvPr id="6" name="Imagen 5">
            <a:extLst>
              <a:ext uri="{FF2B5EF4-FFF2-40B4-BE49-F238E27FC236}">
                <a16:creationId xmlns:a16="http://schemas.microsoft.com/office/drawing/2014/main" id="{C8C45091-CA6D-9766-70AC-38563F33F6A6}"/>
              </a:ext>
            </a:extLst>
          </p:cNvPr>
          <p:cNvPicPr>
            <a:picLocks noChangeAspect="1"/>
          </p:cNvPicPr>
          <p:nvPr/>
        </p:nvPicPr>
        <p:blipFill rotWithShape="1">
          <a:blip r:embed="rId3">
            <a:extLst>
              <a:ext uri="{28A0092B-C50C-407E-A947-70E740481C1C}">
                <a14:useLocalDpi xmlns:a14="http://schemas.microsoft.com/office/drawing/2010/main" val="0"/>
              </a:ext>
            </a:extLst>
          </a:blip>
          <a:srcRect b="18350"/>
          <a:stretch/>
        </p:blipFill>
        <p:spPr>
          <a:xfrm>
            <a:off x="6476118" y="2458192"/>
            <a:ext cx="4896485" cy="2910810"/>
          </a:xfrm>
          <a:prstGeom prst="rect">
            <a:avLst/>
          </a:prstGeom>
        </p:spPr>
      </p:pic>
    </p:spTree>
    <p:extLst>
      <p:ext uri="{BB962C8B-B14F-4D97-AF65-F5344CB8AC3E}">
        <p14:creationId xmlns:p14="http://schemas.microsoft.com/office/powerpoint/2010/main" val="28178919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2F55720-4DF2-D045-12EF-823710FD18DC}"/>
              </a:ext>
            </a:extLst>
          </p:cNvPr>
          <p:cNvSpPr txBox="1"/>
          <p:nvPr/>
        </p:nvSpPr>
        <p:spPr>
          <a:xfrm>
            <a:off x="1117268" y="1280248"/>
            <a:ext cx="9957459" cy="400110"/>
          </a:xfrm>
          <a:prstGeom prst="rect">
            <a:avLst/>
          </a:prstGeom>
          <a:noFill/>
        </p:spPr>
        <p:txBody>
          <a:bodyPr wrap="square">
            <a:spAutoFit/>
          </a:bodyPr>
          <a:lstStyle/>
          <a:p>
            <a:r>
              <a:rPr lang="es-PE" sz="2000" b="1" i="1" dirty="0">
                <a:effectLst/>
                <a:latin typeface="Arial" panose="020B0604020202020204" pitchFamily="34" charset="0"/>
                <a:ea typeface="Arial" panose="020B0604020202020204" pitchFamily="34" charset="0"/>
              </a:rPr>
              <a:t>NIVELES DE APRECIACIÓN VALORATIVA DE LA VARIABLE PRESUPUESTO</a:t>
            </a:r>
            <a:endParaRPr lang="es-PE" sz="2000" b="1" i="1" dirty="0"/>
          </a:p>
        </p:txBody>
      </p:sp>
      <p:pic>
        <p:nvPicPr>
          <p:cNvPr id="2" name="Imagen 1">
            <a:extLst>
              <a:ext uri="{FF2B5EF4-FFF2-40B4-BE49-F238E27FC236}">
                <a16:creationId xmlns:a16="http://schemas.microsoft.com/office/drawing/2014/main" id="{6970BF96-7F5B-2B4D-6A3A-23D7DD46AD6F}"/>
              </a:ext>
            </a:extLst>
          </p:cNvPr>
          <p:cNvPicPr>
            <a:picLocks noChangeAspect="1"/>
          </p:cNvPicPr>
          <p:nvPr/>
        </p:nvPicPr>
        <p:blipFill rotWithShape="1">
          <a:blip r:embed="rId2">
            <a:extLst>
              <a:ext uri="{28A0092B-C50C-407E-A947-70E740481C1C}">
                <a14:useLocalDpi xmlns:a14="http://schemas.microsoft.com/office/drawing/2010/main" val="0"/>
              </a:ext>
            </a:extLst>
          </a:blip>
          <a:srcRect t="7409" b="7675"/>
          <a:stretch/>
        </p:blipFill>
        <p:spPr bwMode="auto">
          <a:xfrm>
            <a:off x="778052" y="2125683"/>
            <a:ext cx="4625220" cy="3051959"/>
          </a:xfrm>
          <a:prstGeom prst="rect">
            <a:avLst/>
          </a:prstGeom>
          <a:noFill/>
          <a:ln>
            <a:noFill/>
          </a:ln>
          <a:extLst>
            <a:ext uri="{53640926-AAD7-44D8-BBD7-CCE9431645EC}">
              <a14:shadowObscured xmlns:a14="http://schemas.microsoft.com/office/drawing/2010/main"/>
            </a:ext>
          </a:extLst>
        </p:spPr>
      </p:pic>
      <p:pic>
        <p:nvPicPr>
          <p:cNvPr id="3" name="Imagen 2">
            <a:extLst>
              <a:ext uri="{FF2B5EF4-FFF2-40B4-BE49-F238E27FC236}">
                <a16:creationId xmlns:a16="http://schemas.microsoft.com/office/drawing/2014/main" id="{29F2A953-5DA9-FBC7-52BA-238A3623548E}"/>
              </a:ext>
            </a:extLst>
          </p:cNvPr>
          <p:cNvPicPr>
            <a:picLocks noChangeAspect="1"/>
          </p:cNvPicPr>
          <p:nvPr/>
        </p:nvPicPr>
        <p:blipFill rotWithShape="1">
          <a:blip r:embed="rId3">
            <a:extLst>
              <a:ext uri="{28A0092B-C50C-407E-A947-70E740481C1C}">
                <a14:useLocalDpi xmlns:a14="http://schemas.microsoft.com/office/drawing/2010/main" val="0"/>
              </a:ext>
            </a:extLst>
          </a:blip>
          <a:srcRect b="22458"/>
          <a:stretch/>
        </p:blipFill>
        <p:spPr>
          <a:xfrm>
            <a:off x="6095998" y="2125683"/>
            <a:ext cx="4722421" cy="3051959"/>
          </a:xfrm>
          <a:prstGeom prst="rect">
            <a:avLst/>
          </a:prstGeom>
        </p:spPr>
      </p:pic>
    </p:spTree>
    <p:extLst>
      <p:ext uri="{BB962C8B-B14F-4D97-AF65-F5344CB8AC3E}">
        <p14:creationId xmlns:p14="http://schemas.microsoft.com/office/powerpoint/2010/main" val="3280166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2F55720-4DF2-D045-12EF-823710FD18DC}"/>
              </a:ext>
            </a:extLst>
          </p:cNvPr>
          <p:cNvSpPr txBox="1"/>
          <p:nvPr/>
        </p:nvSpPr>
        <p:spPr>
          <a:xfrm>
            <a:off x="1117268" y="994545"/>
            <a:ext cx="9957459" cy="707886"/>
          </a:xfrm>
          <a:prstGeom prst="rect">
            <a:avLst/>
          </a:prstGeom>
          <a:noFill/>
        </p:spPr>
        <p:txBody>
          <a:bodyPr wrap="square">
            <a:spAutoFit/>
          </a:bodyPr>
          <a:lstStyle/>
          <a:p>
            <a:r>
              <a:rPr lang="es-PE" sz="2000" b="1" i="1" dirty="0">
                <a:effectLst/>
                <a:latin typeface="Arial" panose="020B0604020202020204" pitchFamily="34" charset="0"/>
                <a:ea typeface="Arial" panose="020B0604020202020204" pitchFamily="34" charset="0"/>
              </a:rPr>
              <a:t>NIVELES DE APRECIACIÓN VALORATIVA DE LA DIMENSIÓN GASTOS PÚBLICOS</a:t>
            </a:r>
            <a:endParaRPr lang="es-PE" sz="2000" b="1" i="1" dirty="0"/>
          </a:p>
        </p:txBody>
      </p:sp>
      <p:pic>
        <p:nvPicPr>
          <p:cNvPr id="4" name="Imagen 3">
            <a:extLst>
              <a:ext uri="{FF2B5EF4-FFF2-40B4-BE49-F238E27FC236}">
                <a16:creationId xmlns:a16="http://schemas.microsoft.com/office/drawing/2014/main" id="{FE887D1F-D2F4-F6D8-68C2-DC4CC489E4E6}"/>
              </a:ext>
            </a:extLst>
          </p:cNvPr>
          <p:cNvPicPr>
            <a:picLocks noChangeAspect="1"/>
          </p:cNvPicPr>
          <p:nvPr/>
        </p:nvPicPr>
        <p:blipFill rotWithShape="1">
          <a:blip r:embed="rId2">
            <a:extLst>
              <a:ext uri="{28A0092B-C50C-407E-A947-70E740481C1C}">
                <a14:useLocalDpi xmlns:a14="http://schemas.microsoft.com/office/drawing/2010/main" val="0"/>
              </a:ext>
            </a:extLst>
          </a:blip>
          <a:srcRect t="9515" b="7940"/>
          <a:stretch/>
        </p:blipFill>
        <p:spPr bwMode="auto">
          <a:xfrm>
            <a:off x="986642" y="2133502"/>
            <a:ext cx="4747372" cy="2981891"/>
          </a:xfrm>
          <a:prstGeom prst="rect">
            <a:avLst/>
          </a:prstGeom>
          <a:noFill/>
          <a:ln>
            <a:noFill/>
          </a:ln>
          <a:extLst>
            <a:ext uri="{53640926-AAD7-44D8-BBD7-CCE9431645EC}">
              <a14:shadowObscured xmlns:a14="http://schemas.microsoft.com/office/drawing/2010/main"/>
            </a:ext>
          </a:extLst>
        </p:spPr>
      </p:pic>
      <p:pic>
        <p:nvPicPr>
          <p:cNvPr id="5" name="Imagen 4">
            <a:extLst>
              <a:ext uri="{FF2B5EF4-FFF2-40B4-BE49-F238E27FC236}">
                <a16:creationId xmlns:a16="http://schemas.microsoft.com/office/drawing/2014/main" id="{E8F92048-0DF1-99C0-2603-EE18F49881F0}"/>
              </a:ext>
            </a:extLst>
          </p:cNvPr>
          <p:cNvPicPr>
            <a:picLocks noChangeAspect="1"/>
          </p:cNvPicPr>
          <p:nvPr/>
        </p:nvPicPr>
        <p:blipFill rotWithShape="1">
          <a:blip r:embed="rId3">
            <a:extLst>
              <a:ext uri="{28A0092B-C50C-407E-A947-70E740481C1C}">
                <a14:useLocalDpi xmlns:a14="http://schemas.microsoft.com/office/drawing/2010/main" val="0"/>
              </a:ext>
            </a:extLst>
          </a:blip>
          <a:srcRect b="18901"/>
          <a:stretch/>
        </p:blipFill>
        <p:spPr>
          <a:xfrm>
            <a:off x="6095998" y="2133504"/>
            <a:ext cx="4829810" cy="2981890"/>
          </a:xfrm>
          <a:prstGeom prst="rect">
            <a:avLst/>
          </a:prstGeom>
        </p:spPr>
      </p:pic>
    </p:spTree>
    <p:extLst>
      <p:ext uri="{BB962C8B-B14F-4D97-AF65-F5344CB8AC3E}">
        <p14:creationId xmlns:p14="http://schemas.microsoft.com/office/powerpoint/2010/main" val="2908779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2F55720-4DF2-D045-12EF-823710FD18DC}"/>
              </a:ext>
            </a:extLst>
          </p:cNvPr>
          <p:cNvSpPr txBox="1"/>
          <p:nvPr/>
        </p:nvSpPr>
        <p:spPr>
          <a:xfrm>
            <a:off x="1117270" y="1030170"/>
            <a:ext cx="9957459" cy="707886"/>
          </a:xfrm>
          <a:prstGeom prst="rect">
            <a:avLst/>
          </a:prstGeom>
          <a:noFill/>
        </p:spPr>
        <p:txBody>
          <a:bodyPr wrap="square">
            <a:spAutoFit/>
          </a:bodyPr>
          <a:lstStyle/>
          <a:p>
            <a:r>
              <a:rPr lang="es-PE" sz="2000" b="1" i="1" dirty="0">
                <a:effectLst/>
                <a:latin typeface="Arial" panose="020B0604020202020204" pitchFamily="34" charset="0"/>
                <a:ea typeface="Arial" panose="020B0604020202020204" pitchFamily="34" charset="0"/>
              </a:rPr>
              <a:t>NIVELES DE APRECIACIÓN VALORATIVA DE LA DIMENSIÓN EJECUCIÓN PRESUPUESTAL </a:t>
            </a:r>
            <a:endParaRPr lang="es-PE" sz="2000" b="1" i="1" dirty="0"/>
          </a:p>
        </p:txBody>
      </p:sp>
      <p:pic>
        <p:nvPicPr>
          <p:cNvPr id="2" name="Imagen 1">
            <a:extLst>
              <a:ext uri="{FF2B5EF4-FFF2-40B4-BE49-F238E27FC236}">
                <a16:creationId xmlns:a16="http://schemas.microsoft.com/office/drawing/2014/main" id="{ADC6EEF0-3D87-8F98-96E8-04210681F7A6}"/>
              </a:ext>
            </a:extLst>
          </p:cNvPr>
          <p:cNvPicPr>
            <a:picLocks noChangeAspect="1"/>
          </p:cNvPicPr>
          <p:nvPr/>
        </p:nvPicPr>
        <p:blipFill rotWithShape="1">
          <a:blip r:embed="rId2">
            <a:extLst>
              <a:ext uri="{28A0092B-C50C-407E-A947-70E740481C1C}">
                <a14:useLocalDpi xmlns:a14="http://schemas.microsoft.com/office/drawing/2010/main" val="0"/>
              </a:ext>
            </a:extLst>
          </a:blip>
          <a:srcRect t="7613" b="7704"/>
          <a:stretch/>
        </p:blipFill>
        <p:spPr bwMode="auto">
          <a:xfrm>
            <a:off x="801804" y="2161309"/>
            <a:ext cx="4708347" cy="2917097"/>
          </a:xfrm>
          <a:prstGeom prst="rect">
            <a:avLst/>
          </a:prstGeom>
          <a:noFill/>
          <a:ln>
            <a:noFill/>
          </a:ln>
          <a:extLst>
            <a:ext uri="{53640926-AAD7-44D8-BBD7-CCE9431645EC}">
              <a14:shadowObscured xmlns:a14="http://schemas.microsoft.com/office/drawing/2010/main"/>
            </a:ext>
          </a:extLst>
        </p:spPr>
      </p:pic>
      <p:pic>
        <p:nvPicPr>
          <p:cNvPr id="3" name="Imagen 2">
            <a:extLst>
              <a:ext uri="{FF2B5EF4-FFF2-40B4-BE49-F238E27FC236}">
                <a16:creationId xmlns:a16="http://schemas.microsoft.com/office/drawing/2014/main" id="{6B74C079-B790-23C6-D310-5BC4A3166CAE}"/>
              </a:ext>
            </a:extLst>
          </p:cNvPr>
          <p:cNvPicPr>
            <a:picLocks noChangeAspect="1"/>
          </p:cNvPicPr>
          <p:nvPr/>
        </p:nvPicPr>
        <p:blipFill rotWithShape="1">
          <a:blip r:embed="rId3">
            <a:extLst>
              <a:ext uri="{28A0092B-C50C-407E-A947-70E740481C1C}">
                <a14:useLocalDpi xmlns:a14="http://schemas.microsoft.com/office/drawing/2010/main" val="0"/>
              </a:ext>
            </a:extLst>
          </a:blip>
          <a:srcRect b="19286"/>
          <a:stretch/>
        </p:blipFill>
        <p:spPr>
          <a:xfrm>
            <a:off x="5869084" y="2161309"/>
            <a:ext cx="5019675" cy="2824415"/>
          </a:xfrm>
          <a:prstGeom prst="rect">
            <a:avLst/>
          </a:prstGeom>
        </p:spPr>
      </p:pic>
    </p:spTree>
    <p:extLst>
      <p:ext uri="{BB962C8B-B14F-4D97-AF65-F5344CB8AC3E}">
        <p14:creationId xmlns:p14="http://schemas.microsoft.com/office/powerpoint/2010/main" val="41407679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2F55720-4DF2-D045-12EF-823710FD18DC}"/>
              </a:ext>
            </a:extLst>
          </p:cNvPr>
          <p:cNvSpPr txBox="1"/>
          <p:nvPr/>
        </p:nvSpPr>
        <p:spPr>
          <a:xfrm>
            <a:off x="1117268" y="1275983"/>
            <a:ext cx="9957459" cy="707886"/>
          </a:xfrm>
          <a:prstGeom prst="rect">
            <a:avLst/>
          </a:prstGeom>
          <a:noFill/>
        </p:spPr>
        <p:txBody>
          <a:bodyPr wrap="square">
            <a:spAutoFit/>
          </a:bodyPr>
          <a:lstStyle/>
          <a:p>
            <a:r>
              <a:rPr lang="es-PE" sz="2000" b="1" i="1" dirty="0">
                <a:effectLst/>
                <a:latin typeface="Arial" panose="020B0604020202020204" pitchFamily="34" charset="0"/>
                <a:ea typeface="Arial" panose="020B0604020202020204" pitchFamily="34" charset="0"/>
              </a:rPr>
              <a:t>NIVELES DE APRECIACIÓN VALORATIVA DE LA DIMENSIÓN VIABILIDAD FINANCIERA</a:t>
            </a:r>
            <a:endParaRPr lang="es-PE" sz="2000" b="1" i="1" dirty="0"/>
          </a:p>
        </p:txBody>
      </p:sp>
      <p:pic>
        <p:nvPicPr>
          <p:cNvPr id="4" name="Imagen 3">
            <a:extLst>
              <a:ext uri="{FF2B5EF4-FFF2-40B4-BE49-F238E27FC236}">
                <a16:creationId xmlns:a16="http://schemas.microsoft.com/office/drawing/2014/main" id="{B6CEAEB8-D64F-4FC1-9BF3-6C9C9E4C7868}"/>
              </a:ext>
            </a:extLst>
          </p:cNvPr>
          <p:cNvPicPr>
            <a:picLocks noChangeAspect="1"/>
          </p:cNvPicPr>
          <p:nvPr/>
        </p:nvPicPr>
        <p:blipFill rotWithShape="1">
          <a:blip r:embed="rId2">
            <a:extLst>
              <a:ext uri="{28A0092B-C50C-407E-A947-70E740481C1C}">
                <a14:useLocalDpi xmlns:a14="http://schemas.microsoft.com/office/drawing/2010/main" val="0"/>
              </a:ext>
            </a:extLst>
          </a:blip>
          <a:srcRect t="7137" b="8656"/>
          <a:stretch/>
        </p:blipFill>
        <p:spPr bwMode="auto">
          <a:xfrm>
            <a:off x="783771" y="2249077"/>
            <a:ext cx="4572000" cy="2932830"/>
          </a:xfrm>
          <a:prstGeom prst="rect">
            <a:avLst/>
          </a:prstGeom>
          <a:noFill/>
          <a:ln>
            <a:noFill/>
          </a:ln>
          <a:extLst>
            <a:ext uri="{53640926-AAD7-44D8-BBD7-CCE9431645EC}">
              <a14:shadowObscured xmlns:a14="http://schemas.microsoft.com/office/drawing/2010/main"/>
            </a:ext>
          </a:extLst>
        </p:spPr>
      </p:pic>
      <p:pic>
        <p:nvPicPr>
          <p:cNvPr id="5" name="Imagen 4">
            <a:extLst>
              <a:ext uri="{FF2B5EF4-FFF2-40B4-BE49-F238E27FC236}">
                <a16:creationId xmlns:a16="http://schemas.microsoft.com/office/drawing/2014/main" id="{BFC0CD96-74A3-E5E5-C35F-504588DC506E}"/>
              </a:ext>
            </a:extLst>
          </p:cNvPr>
          <p:cNvPicPr>
            <a:picLocks noChangeAspect="1"/>
          </p:cNvPicPr>
          <p:nvPr/>
        </p:nvPicPr>
        <p:blipFill rotWithShape="1">
          <a:blip r:embed="rId3">
            <a:extLst>
              <a:ext uri="{28A0092B-C50C-407E-A947-70E740481C1C}">
                <a14:useLocalDpi xmlns:a14="http://schemas.microsoft.com/office/drawing/2010/main" val="0"/>
              </a:ext>
            </a:extLst>
          </a:blip>
          <a:srcRect b="21681"/>
          <a:stretch/>
        </p:blipFill>
        <p:spPr>
          <a:xfrm>
            <a:off x="6095998" y="2249077"/>
            <a:ext cx="4763135" cy="2932830"/>
          </a:xfrm>
          <a:prstGeom prst="rect">
            <a:avLst/>
          </a:prstGeom>
        </p:spPr>
      </p:pic>
    </p:spTree>
    <p:extLst>
      <p:ext uri="{BB962C8B-B14F-4D97-AF65-F5344CB8AC3E}">
        <p14:creationId xmlns:p14="http://schemas.microsoft.com/office/powerpoint/2010/main" val="2931246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92F55720-4DF2-D045-12EF-823710FD18DC}"/>
              </a:ext>
            </a:extLst>
          </p:cNvPr>
          <p:cNvSpPr txBox="1"/>
          <p:nvPr/>
        </p:nvSpPr>
        <p:spPr>
          <a:xfrm>
            <a:off x="1117270" y="1283216"/>
            <a:ext cx="9957459" cy="707886"/>
          </a:xfrm>
          <a:prstGeom prst="rect">
            <a:avLst/>
          </a:prstGeom>
          <a:noFill/>
        </p:spPr>
        <p:txBody>
          <a:bodyPr wrap="square">
            <a:spAutoFit/>
          </a:bodyPr>
          <a:lstStyle/>
          <a:p>
            <a:r>
              <a:rPr lang="es-PE" sz="2000" b="1" i="1" dirty="0">
                <a:effectLst/>
                <a:latin typeface="Arial" panose="020B0604020202020204" pitchFamily="34" charset="0"/>
                <a:ea typeface="Arial" panose="020B0604020202020204" pitchFamily="34" charset="0"/>
              </a:rPr>
              <a:t>NIVELES DE APRECIACIÓN VALORATIVA DE LA DIMENSIÓN PRESUPUESTO PUBLICO</a:t>
            </a:r>
            <a:endParaRPr lang="es-PE" sz="2000" b="1" i="1" dirty="0"/>
          </a:p>
        </p:txBody>
      </p:sp>
      <p:pic>
        <p:nvPicPr>
          <p:cNvPr id="4" name="Imagen 3">
            <a:extLst>
              <a:ext uri="{FF2B5EF4-FFF2-40B4-BE49-F238E27FC236}">
                <a16:creationId xmlns:a16="http://schemas.microsoft.com/office/drawing/2014/main" id="{B6CEAEB8-D64F-4FC1-9BF3-6C9C9E4C7868}"/>
              </a:ext>
            </a:extLst>
          </p:cNvPr>
          <p:cNvPicPr>
            <a:picLocks noChangeAspect="1"/>
          </p:cNvPicPr>
          <p:nvPr/>
        </p:nvPicPr>
        <p:blipFill rotWithShape="1">
          <a:blip r:embed="rId2">
            <a:extLst>
              <a:ext uri="{28A0092B-C50C-407E-A947-70E740481C1C}">
                <a14:useLocalDpi xmlns:a14="http://schemas.microsoft.com/office/drawing/2010/main" val="0"/>
              </a:ext>
            </a:extLst>
          </a:blip>
          <a:srcRect t="7137" b="8656"/>
          <a:stretch/>
        </p:blipFill>
        <p:spPr bwMode="auto">
          <a:xfrm>
            <a:off x="902525" y="2351316"/>
            <a:ext cx="4572000" cy="2728819"/>
          </a:xfrm>
          <a:prstGeom prst="rect">
            <a:avLst/>
          </a:prstGeom>
          <a:noFill/>
          <a:ln>
            <a:noFill/>
          </a:ln>
          <a:extLst>
            <a:ext uri="{53640926-AAD7-44D8-BBD7-CCE9431645EC}">
              <a14:shadowObscured xmlns:a14="http://schemas.microsoft.com/office/drawing/2010/main"/>
            </a:ext>
          </a:extLst>
        </p:spPr>
      </p:pic>
      <p:pic>
        <p:nvPicPr>
          <p:cNvPr id="5" name="Imagen 4">
            <a:extLst>
              <a:ext uri="{FF2B5EF4-FFF2-40B4-BE49-F238E27FC236}">
                <a16:creationId xmlns:a16="http://schemas.microsoft.com/office/drawing/2014/main" id="{BFC0CD96-74A3-E5E5-C35F-504588DC506E}"/>
              </a:ext>
            </a:extLst>
          </p:cNvPr>
          <p:cNvPicPr>
            <a:picLocks noChangeAspect="1"/>
          </p:cNvPicPr>
          <p:nvPr/>
        </p:nvPicPr>
        <p:blipFill rotWithShape="1">
          <a:blip r:embed="rId3">
            <a:extLst>
              <a:ext uri="{28A0092B-C50C-407E-A947-70E740481C1C}">
                <a14:useLocalDpi xmlns:a14="http://schemas.microsoft.com/office/drawing/2010/main" val="0"/>
              </a:ext>
            </a:extLst>
          </a:blip>
          <a:srcRect b="21681"/>
          <a:stretch/>
        </p:blipFill>
        <p:spPr>
          <a:xfrm>
            <a:off x="5994563" y="2351316"/>
            <a:ext cx="4763135" cy="2823358"/>
          </a:xfrm>
          <a:prstGeom prst="rect">
            <a:avLst/>
          </a:prstGeom>
        </p:spPr>
      </p:pic>
    </p:spTree>
    <p:extLst>
      <p:ext uri="{BB962C8B-B14F-4D97-AF65-F5344CB8AC3E}">
        <p14:creationId xmlns:p14="http://schemas.microsoft.com/office/powerpoint/2010/main" val="29860857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7A5DAB6-158F-0970-A40D-66935A84478D}"/>
              </a:ext>
            </a:extLst>
          </p:cNvPr>
          <p:cNvSpPr>
            <a:spLocks noGrp="1"/>
          </p:cNvSpPr>
          <p:nvPr>
            <p:ph type="title" idx="4294967295"/>
          </p:nvPr>
        </p:nvSpPr>
        <p:spPr>
          <a:xfrm>
            <a:off x="1127051" y="-191385"/>
            <a:ext cx="9601200" cy="956930"/>
          </a:xfrm>
        </p:spPr>
        <p:txBody>
          <a:bodyPr/>
          <a:lstStyle/>
          <a:p>
            <a:r>
              <a:rPr lang="es-PE" dirty="0"/>
              <a:t>CONCLUSIONES</a:t>
            </a:r>
          </a:p>
        </p:txBody>
      </p:sp>
      <p:sp>
        <p:nvSpPr>
          <p:cNvPr id="3" name="Marcador de contenido 2">
            <a:extLst>
              <a:ext uri="{FF2B5EF4-FFF2-40B4-BE49-F238E27FC236}">
                <a16:creationId xmlns:a16="http://schemas.microsoft.com/office/drawing/2014/main" id="{0EB1CF4E-AD03-8C0F-3767-88E3DA655EB0}"/>
              </a:ext>
            </a:extLst>
          </p:cNvPr>
          <p:cNvSpPr>
            <a:spLocks noGrp="1"/>
          </p:cNvSpPr>
          <p:nvPr>
            <p:ph idx="4294967295"/>
          </p:nvPr>
        </p:nvSpPr>
        <p:spPr>
          <a:xfrm>
            <a:off x="595423" y="659220"/>
            <a:ext cx="10866475" cy="5794744"/>
          </a:xfrm>
        </p:spPr>
        <p:txBody>
          <a:bodyPr>
            <a:normAutofit fontScale="25000" lnSpcReduction="20000"/>
          </a:bodyPr>
          <a:lstStyle/>
          <a:p>
            <a:pPr algn="just">
              <a:lnSpc>
                <a:spcPct val="150000"/>
              </a:lnSpc>
            </a:pPr>
            <a:r>
              <a:rPr lang="es-PE" sz="4400" dirty="0">
                <a:effectLst/>
                <a:latin typeface="Arial" panose="020B0604020202020204" pitchFamily="34" charset="0"/>
                <a:ea typeface="Arial" panose="020B0604020202020204" pitchFamily="34" charset="0"/>
              </a:rPr>
              <a:t>Con relación a la variable impuesto predial se pudo concluir que el total de los encuestados el 43,3% y así como el 33,3%, obteniendo una apreciación valorativa alta y media equivalente a 23 encuestados del total de 30, afirmando así el cumplimiento tributario, indicando así la eficiencia de la recaudación. Determinar que existe relación estadística significativa las dos variables impuesto predial y presupuesto en la municipalidad provincial de Tacna,2022. Ya que se hallo un coeficiente de Rho Spearman de 0.496 y un valor de significación p=0.047, el cual indica que existe una relación directa media.</a:t>
            </a:r>
          </a:p>
          <a:p>
            <a:pPr algn="just">
              <a:lnSpc>
                <a:spcPct val="150000"/>
              </a:lnSpc>
            </a:pPr>
            <a:r>
              <a:rPr lang="es-PE" sz="4400" dirty="0">
                <a:effectLst/>
                <a:latin typeface="Arial" panose="020B0604020202020204" pitchFamily="34" charset="0"/>
                <a:ea typeface="Arial" panose="020B0604020202020204" pitchFamily="34" charset="0"/>
              </a:rPr>
              <a:t> Así mismo, se puede confirmar que la hipótesis específica del cumplimiento tributario que se relaciona con el presupuesto, donde se obtuvo un 46,67% así como un 33.33% equivalente a 24 de 30 encuestados, teniendo una apreciación valorativa medio y alto afirmando que la recaudación y cultura tributaria en la mayoría de la valoración es alta permitiendo un desempeño satisfactorio de los recursos necesarios para la municipalidad distrital de Tacna. Estableciendo que existe relación con la dimensión cumplimiento tributario y la variable presupuesto en la municipalidad provincial de Tacna, 2022. Ya que se logro un coeficiente de Rho Spearman de 0.382 y un valor de significancia de p=0.008, lo que indica que existe una relación directa media</a:t>
            </a:r>
          </a:p>
          <a:p>
            <a:pPr algn="just">
              <a:lnSpc>
                <a:spcPct val="150000"/>
              </a:lnSpc>
            </a:pPr>
            <a:r>
              <a:rPr lang="es-PE" sz="4400" dirty="0">
                <a:effectLst/>
                <a:latin typeface="Arial" panose="020B0604020202020204" pitchFamily="34" charset="0"/>
                <a:ea typeface="Arial" panose="020B0604020202020204" pitchFamily="34" charset="0"/>
              </a:rPr>
              <a:t>Por otro lado, podemos confirmar que la hipótesis especifica de los contribuyentes se relaciona con el presupuesto, donde se obtuvo un 60% así con un 26,7% equivalente al 26 de 30 encuestados, teniendo una apreciación valorativa medio y alto permitiendo el desempeño satisfactorio de los recursos necesarios para municipalidad distrital de Tacna. Donde se puede determinar que existe relación de la dimensión Contribuyente y la variable presupuesto en la municipalidad provincial de Tacna, 2022. Ya que se logro un coeficiente de Rho Spearman de 0.613 y un valor de significancia de p=0.000, lo que indica que existe una relación directa media.</a:t>
            </a:r>
          </a:p>
          <a:p>
            <a:pPr algn="just">
              <a:lnSpc>
                <a:spcPct val="150000"/>
              </a:lnSpc>
            </a:pPr>
            <a:r>
              <a:rPr lang="es-PE" sz="4400" dirty="0">
                <a:effectLst/>
                <a:latin typeface="Arial" panose="020B0604020202020204" pitchFamily="34" charset="0"/>
                <a:ea typeface="Arial" panose="020B0604020202020204" pitchFamily="34" charset="0"/>
              </a:rPr>
              <a:t>Continuando con la hipótesis especifica de la valoración de bienes se relaciona con el presupuesto, donde se obtuvo un 50% así como un 30% equivalente al 24 de 30 encuestados, teniendo una apreciación  valorativa medio y alto afirmando que la eficiente contrataciones y recursos, en la mayoría tiene una valoración alta permitiendo un proceso estructurado el cual involucra acciones y decisiones dentro de la municipalidad de Tacna. Estableciendo que existe relación con la dimensión validación de bienes y la variable presupuesto en la municipalidad provincial de Tacna,2022. Ya que se logro un coeficiente de Rho Spearman de 0.505 y un valor de significancia de p=0.004, lo que indica que existe relación directa media.</a:t>
            </a:r>
          </a:p>
          <a:p>
            <a:pPr algn="just">
              <a:lnSpc>
                <a:spcPct val="150000"/>
              </a:lnSpc>
            </a:pPr>
            <a:r>
              <a:rPr lang="es-PE" sz="4400" dirty="0">
                <a:effectLst/>
                <a:latin typeface="Arial" panose="020B0604020202020204" pitchFamily="34" charset="0"/>
                <a:ea typeface="Arial" panose="020B0604020202020204" pitchFamily="34" charset="0"/>
              </a:rPr>
              <a:t>Por último, la dimensión de determinación tributaria se relaciona con el presupuesto, donde se obtuvo un 40% así como un 36,7% equivalente al 23 de 30 encuestados, teniendo una apreciación valorativa medio y alto afirmando la base imponible y cobertura catastral, en la mayoría la valoración es alta permitiendo un proceso estructurado el cual involucra acciones y decisiones dentro de la municipalidad de Tacna.  se determinó que hay relación con la dimensión determinación tributaria y la variable presupuesto en la municipalidad provincial de Tacna,2022. Ya que se obtuvo 0.524 de coeficiente Rho Spearman, con p=0.003, lo cual nos indica que la relación directa media considerable.</a:t>
            </a:r>
          </a:p>
          <a:p>
            <a:pPr indent="0" algn="just">
              <a:lnSpc>
                <a:spcPct val="150000"/>
              </a:lnSpc>
              <a:buNone/>
            </a:pPr>
            <a:r>
              <a:rPr lang="es-PE" sz="4400" dirty="0">
                <a:effectLst/>
                <a:latin typeface="Arial" panose="020B0604020202020204" pitchFamily="34" charset="0"/>
                <a:ea typeface="Arial" panose="020B0604020202020204" pitchFamily="34" charset="0"/>
              </a:rPr>
              <a:t> </a:t>
            </a:r>
          </a:p>
          <a:p>
            <a:endParaRPr lang="es-PE" dirty="0"/>
          </a:p>
        </p:txBody>
      </p:sp>
    </p:spTree>
    <p:extLst>
      <p:ext uri="{BB962C8B-B14F-4D97-AF65-F5344CB8AC3E}">
        <p14:creationId xmlns:p14="http://schemas.microsoft.com/office/powerpoint/2010/main" val="33554918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3D08F4-0BC0-A323-86C9-B5E54BC76DAB}"/>
              </a:ext>
            </a:extLst>
          </p:cNvPr>
          <p:cNvSpPr>
            <a:spLocks noGrp="1"/>
          </p:cNvSpPr>
          <p:nvPr>
            <p:ph type="title" idx="4294967295"/>
          </p:nvPr>
        </p:nvSpPr>
        <p:spPr>
          <a:xfrm>
            <a:off x="1531089" y="631788"/>
            <a:ext cx="9601200" cy="835505"/>
          </a:xfrm>
        </p:spPr>
        <p:txBody>
          <a:bodyPr/>
          <a:lstStyle/>
          <a:p>
            <a:r>
              <a:rPr lang="es-PE" dirty="0"/>
              <a:t>RECOMENDACIONES</a:t>
            </a:r>
          </a:p>
        </p:txBody>
      </p:sp>
      <p:sp>
        <p:nvSpPr>
          <p:cNvPr id="4" name="Marcador de contenido 2">
            <a:extLst>
              <a:ext uri="{FF2B5EF4-FFF2-40B4-BE49-F238E27FC236}">
                <a16:creationId xmlns:a16="http://schemas.microsoft.com/office/drawing/2014/main" id="{14F020FC-0C48-94EC-B1B0-392ACC33738D}"/>
              </a:ext>
            </a:extLst>
          </p:cNvPr>
          <p:cNvSpPr txBox="1">
            <a:spLocks/>
          </p:cNvSpPr>
          <p:nvPr/>
        </p:nvSpPr>
        <p:spPr>
          <a:xfrm>
            <a:off x="903767" y="1467293"/>
            <a:ext cx="10122196" cy="4696932"/>
          </a:xfrm>
          <a:prstGeom prst="rect">
            <a:avLst/>
          </a:prstGeom>
        </p:spPr>
        <p:txBody>
          <a:bodyPr vert="horz" lIns="91440" tIns="45720" rIns="91440" bIns="45720" rtlCol="0" anchor="t">
            <a:normAutofit fontScale="25000" lnSpcReduction="20000"/>
          </a:bodyPr>
          <a:lst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algn="just">
              <a:lnSpc>
                <a:spcPct val="150000"/>
              </a:lnSpc>
            </a:pPr>
            <a:r>
              <a:rPr lang="es-PE" sz="4800" dirty="0">
                <a:latin typeface="Arial" panose="020B0604020202020204" pitchFamily="34" charset="0"/>
                <a:ea typeface="Arial" panose="020B0604020202020204" pitchFamily="34" charset="0"/>
              </a:rPr>
              <a:t>El impuesto predial y el presupuesto en la municipalidad provincial de Tacna, como primera recomendación implementar un seguimiento de la recaudación efectiva, para comparar lo recaudado con el presupuesto estimado, con el fin de que facilite a la identificación de desviaciones y permitir hacer ajustes oportunos y mejorar las respuestas frente a un déficit en la ejecución presupuestaria de la municipalidad provincial de Tacna</a:t>
            </a:r>
          </a:p>
          <a:p>
            <a:pPr algn="just">
              <a:lnSpc>
                <a:spcPct val="150000"/>
              </a:lnSpc>
            </a:pPr>
            <a:r>
              <a:rPr lang="es-PE" sz="4800" dirty="0">
                <a:latin typeface="Arial" panose="020B0604020202020204" pitchFamily="34" charset="0"/>
                <a:ea typeface="Arial" panose="020B0604020202020204" pitchFamily="34" charset="0"/>
              </a:rPr>
              <a:t> Como segunda recomendación, establecer provisiones contables de riesgo de morosidad, considerando zonas que no tienen cultura tributaria, esta medida nos permitiría reflejar los estados financieros para una estimación más precisa de los ingresos, porque lo que se desea es ver un escenario del presupuesto que se apague a la realidad y que al final de la rendición de cuentas la prevención de desequilibrio financieros no sea derivados de ingresos sobreestimados.</a:t>
            </a:r>
          </a:p>
          <a:p>
            <a:pPr algn="just">
              <a:lnSpc>
                <a:spcPct val="150000"/>
              </a:lnSpc>
            </a:pPr>
            <a:r>
              <a:rPr lang="es-PE" sz="4800" dirty="0">
                <a:latin typeface="Arial" panose="020B0604020202020204" pitchFamily="34" charset="0"/>
                <a:ea typeface="Arial" panose="020B0604020202020204" pitchFamily="34" charset="0"/>
              </a:rPr>
              <a:t>Como tercera recomendación, vincular el valor catastral de cada predio a una cuenta contable individualizada, lo que garantizaría que puedan calcular el monto de los impuestos prediales actualizados y verificados, evitando errores en la determinación de la base imponible, esta medida permitirá proyectar con exactitud los ingresos esperados del presupuesto de la municipalidad provincial de Tacna. </a:t>
            </a:r>
          </a:p>
          <a:p>
            <a:pPr algn="just">
              <a:lnSpc>
                <a:spcPct val="150000"/>
              </a:lnSpc>
            </a:pPr>
            <a:r>
              <a:rPr lang="es-PE" sz="4800" dirty="0">
                <a:latin typeface="Arial" panose="020B0604020202020204" pitchFamily="34" charset="0"/>
                <a:ea typeface="Arial" panose="020B0604020202020204" pitchFamily="34" charset="0"/>
              </a:rPr>
              <a:t>La cuarta recomendación, registrar contablemente las valorizaciones como activos no financieros como base en la municipalidad provincial de Tacna, esta práctica reflejará de forma de valor real los bienes inmuebles, fortaleciendo la calidad de información financiera y contribuirá a una mejor toma de decisiones presupuestarias y de inversión, buscando facilitar la rendición de cuentas ente la contraloría general de la república.</a:t>
            </a:r>
          </a:p>
          <a:p>
            <a:pPr algn="just">
              <a:lnSpc>
                <a:spcPct val="150000"/>
              </a:lnSpc>
            </a:pPr>
            <a:r>
              <a:rPr lang="es-PE" sz="4800" dirty="0">
                <a:latin typeface="Arial" panose="020B0604020202020204" pitchFamily="34" charset="0"/>
                <a:ea typeface="Arial" panose="020B0604020202020204" pitchFamily="34" charset="0"/>
              </a:rPr>
              <a:t>Finalmente, se puede implementar indicadores de determinación tributaria que alerten aquellas acciones correctivas para que puedan preservar la sostenibilidad del presupuesto para detectar niveles de morosidad y mostrando, así como resultado las metas si están debajo del presupuesto, indicando brechas tributarias, desviación y morosidad.</a:t>
            </a:r>
          </a:p>
          <a:p>
            <a:endParaRPr lang="es-PE" dirty="0"/>
          </a:p>
        </p:txBody>
      </p:sp>
    </p:spTree>
    <p:extLst>
      <p:ext uri="{BB962C8B-B14F-4D97-AF65-F5344CB8AC3E}">
        <p14:creationId xmlns:p14="http://schemas.microsoft.com/office/powerpoint/2010/main" val="4108749646"/>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ánico">
  <a:themeElements>
    <a:clrScheme name="Orgánico">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ánico">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ánico">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179</TotalTime>
  <Words>1609</Words>
  <Application>Microsoft Office PowerPoint</Application>
  <PresentationFormat>Panorámica</PresentationFormat>
  <Paragraphs>71</Paragraphs>
  <Slides>19</Slides>
  <Notes>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19</vt:i4>
      </vt:variant>
    </vt:vector>
  </HeadingPairs>
  <TitlesOfParts>
    <vt:vector size="23" baseType="lpstr">
      <vt:lpstr>Arial</vt:lpstr>
      <vt:lpstr>Calibri</vt:lpstr>
      <vt:lpstr>Garamond</vt:lpstr>
      <vt:lpstr>Orgánico</vt:lpstr>
      <vt:lpstr>Presentación de PowerPoint</vt:lpstr>
      <vt:lpstr>INTRODUCCIÓN  </vt:lpstr>
      <vt:lpstr>Presentación de PowerPoint</vt:lpstr>
      <vt:lpstr>OBJETIVOS GENERAL</vt:lpstr>
      <vt:lpstr>HIPOTESIS GENERAL</vt:lpstr>
      <vt:lpstr>JUSTIFICACION</vt:lpstr>
      <vt:lpstr>METODOLOGÍA </vt:lpstr>
      <vt:lpstr>RESULTADOS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CONCLUSIONES</vt:lpstr>
      <vt:lpstr>RECOMENDACIONES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 y F HEALTH</dc:creator>
  <cp:lastModifiedBy>G y F HEALTH</cp:lastModifiedBy>
  <cp:revision>13</cp:revision>
  <dcterms:created xsi:type="dcterms:W3CDTF">2025-08-20T15:14:31Z</dcterms:created>
  <dcterms:modified xsi:type="dcterms:W3CDTF">2025-08-20T22:58:52Z</dcterms:modified>
</cp:coreProperties>
</file>